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96" r:id="rId2"/>
    <p:sldId id="257" r:id="rId3"/>
    <p:sldId id="260" r:id="rId4"/>
    <p:sldId id="261" r:id="rId5"/>
    <p:sldId id="262" r:id="rId6"/>
    <p:sldId id="277" r:id="rId7"/>
    <p:sldId id="278" r:id="rId8"/>
    <p:sldId id="265" r:id="rId9"/>
    <p:sldId id="291" r:id="rId10"/>
    <p:sldId id="292" r:id="rId11"/>
    <p:sldId id="302" r:id="rId12"/>
    <p:sldId id="266" r:id="rId13"/>
    <p:sldId id="305" r:id="rId14"/>
    <p:sldId id="307" r:id="rId15"/>
    <p:sldId id="297" r:id="rId16"/>
    <p:sldId id="308" r:id="rId17"/>
    <p:sldId id="304" r:id="rId18"/>
    <p:sldId id="303" r:id="rId19"/>
    <p:sldId id="274" r:id="rId20"/>
    <p:sldId id="306" r:id="rId21"/>
    <p:sldId id="275"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ge1UEoCBj6I9mBVepBxH4nq5zs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7D81E50-ACCD-4A89-8FA9-C32B3194FDB5}">
  <a:tblStyle styleId="{D7D81E50-ACCD-4A89-8FA9-C32B3194FDB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1339" autoAdjust="0"/>
  </p:normalViewPr>
  <p:slideViewPr>
    <p:cSldViewPr snapToGrid="0">
      <p:cViewPr varScale="1">
        <p:scale>
          <a:sx n="81" d="100"/>
          <a:sy n="81" d="100"/>
        </p:scale>
        <p:origin x="59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pPr marL="0" marR="0" lvl="0" indent="0" algn="r" rtl="0">
                <a:spcBef>
                  <a:spcPts val="0"/>
                </a:spcBef>
                <a:spcAft>
                  <a:spcPts val="0"/>
                </a:spcAft>
                <a:buNone/>
              </a:pPr>
              <a:t>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82035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3" name="Google Shape;19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E8195559-EA07-FCC5-0DA0-483330CC46CA}"/>
            </a:ext>
          </a:extLst>
        </p:cNvPr>
        <p:cNvGrpSpPr/>
        <p:nvPr/>
      </p:nvGrpSpPr>
      <p:grpSpPr>
        <a:xfrm>
          <a:off x="0" y="0"/>
          <a:ext cx="0" cy="0"/>
          <a:chOff x="0" y="0"/>
          <a:chExt cx="0" cy="0"/>
        </a:xfrm>
      </p:grpSpPr>
      <p:sp>
        <p:nvSpPr>
          <p:cNvPr id="210" name="Google Shape;210;p10:notes">
            <a:extLst>
              <a:ext uri="{FF2B5EF4-FFF2-40B4-BE49-F238E27FC236}">
                <a16:creationId xmlns:a16="http://schemas.microsoft.com/office/drawing/2014/main" id="{5EDE8148-09DB-E002-C89E-C211A7F20B3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0:notes">
            <a:extLst>
              <a:ext uri="{FF2B5EF4-FFF2-40B4-BE49-F238E27FC236}">
                <a16:creationId xmlns:a16="http://schemas.microsoft.com/office/drawing/2014/main" id="{6772C8AD-1790-6241-8C3C-E6F101899DA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51088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0973EA8-C59D-4C79-CE88-6341B8A2EFCB}"/>
            </a:ext>
          </a:extLst>
        </p:cNvPr>
        <p:cNvGrpSpPr/>
        <p:nvPr/>
      </p:nvGrpSpPr>
      <p:grpSpPr>
        <a:xfrm>
          <a:off x="0" y="0"/>
          <a:ext cx="0" cy="0"/>
          <a:chOff x="0" y="0"/>
          <a:chExt cx="0" cy="0"/>
        </a:xfrm>
      </p:grpSpPr>
      <p:sp>
        <p:nvSpPr>
          <p:cNvPr id="210" name="Google Shape;210;p10:notes">
            <a:extLst>
              <a:ext uri="{FF2B5EF4-FFF2-40B4-BE49-F238E27FC236}">
                <a16:creationId xmlns:a16="http://schemas.microsoft.com/office/drawing/2014/main" id="{7E3563C6-2F07-6772-12AD-703A893EE26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0:notes">
            <a:extLst>
              <a:ext uri="{FF2B5EF4-FFF2-40B4-BE49-F238E27FC236}">
                <a16:creationId xmlns:a16="http://schemas.microsoft.com/office/drawing/2014/main" id="{C0823918-DAC8-F9E4-7699-5124AE572C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9923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5" name="Google Shape;32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8"/>
          <p:cNvSpPr>
            <a:spLocks noGrp="1"/>
          </p:cNvSpPr>
          <p:nvPr>
            <p:ph type="pic" idx="2"/>
          </p:nvPr>
        </p:nvSpPr>
        <p:spPr>
          <a:xfrm>
            <a:off x="5183188" y="987425"/>
            <a:ext cx="6172200" cy="4873625"/>
          </a:xfrm>
          <a:prstGeom prst="rect">
            <a:avLst/>
          </a:prstGeom>
          <a:noFill/>
          <a:ln>
            <a:noFill/>
          </a:ln>
        </p:spPr>
      </p:sp>
      <p:sp>
        <p:nvSpPr>
          <p:cNvPr id="68" name="Google Shape;68;p2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xfrm>
            <a:off x="-1" y="1366482"/>
            <a:ext cx="12192001" cy="4662964"/>
          </a:xfrm>
          <a:prstGeom prst="rect">
            <a:avLst/>
          </a:prstGeom>
        </p:spPr>
        <p:txBody>
          <a:bodyPr spcFirstLastPara="1" vert="horz" wrap="square" lIns="0" tIns="16912" rIns="0" bIns="0" rtlCol="0" anchor="t" anchorCtr="0">
            <a:spAutoFit/>
          </a:bodyPr>
          <a:lstStyle/>
          <a:p>
            <a:pPr marL="0" indent="0" algn="ctr">
              <a:lnSpc>
                <a:spcPct val="100000"/>
              </a:lnSpc>
              <a:spcBef>
                <a:spcPts val="133"/>
              </a:spcBef>
              <a:buNone/>
            </a:pPr>
            <a:r>
              <a:rPr lang="en-US" dirty="0">
                <a:latin typeface="Times New Roman" panose="02020603050405020304" pitchFamily="18" charset="0"/>
                <a:cs typeface="Times New Roman" panose="02020603050405020304" pitchFamily="18" charset="0"/>
              </a:rPr>
              <a:t>	</a:t>
            </a:r>
            <a:r>
              <a:rPr lang="en-US" sz="2000" b="1" dirty="0">
                <a:latin typeface="Times New Roman" pitchFamily="18" charset="0"/>
                <a:cs typeface="Times New Roman" pitchFamily="18" charset="0"/>
              </a:rPr>
              <a:t> </a:t>
            </a:r>
            <a:r>
              <a:rPr lang="en-US" sz="2400" b="1" dirty="0">
                <a:latin typeface="Times New Roman" pitchFamily="18" charset="0"/>
                <a:cs typeface="Times New Roman" pitchFamily="18" charset="0"/>
              </a:rPr>
              <a:t>Multiclass</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Classification of Gangrene and Ulcer Using </a:t>
            </a:r>
            <a:r>
              <a:rPr lang="en-US" sz="2400" b="1" dirty="0" err="1">
                <a:latin typeface="Times New Roman" pitchFamily="18" charset="0"/>
                <a:cs typeface="Times New Roman" pitchFamily="18" charset="0"/>
              </a:rPr>
              <a:t>MaxVit</a:t>
            </a:r>
            <a:r>
              <a:rPr lang="en-US" sz="2400" b="1" dirty="0">
                <a:latin typeface="Times New Roman" pitchFamily="18" charset="0"/>
                <a:cs typeface="Times New Roman" pitchFamily="18" charset="0"/>
              </a:rPr>
              <a:t> with Grad-CAM++ </a:t>
            </a:r>
            <a:r>
              <a:rPr lang="en-US" sz="2400" b="1" dirty="0" err="1">
                <a:latin typeface="Times New Roman" pitchFamily="18" charset="0"/>
                <a:cs typeface="Times New Roman" pitchFamily="18" charset="0"/>
              </a:rPr>
              <a:t>Explainability</a:t>
            </a:r>
            <a:r>
              <a:rPr lang="en-US" sz="2400" b="1" dirty="0">
                <a:latin typeface="Times New Roman" pitchFamily="18" charset="0"/>
                <a:cs typeface="Times New Roman" pitchFamily="18" charset="0"/>
              </a:rPr>
              <a:t> </a:t>
            </a:r>
          </a:p>
          <a:p>
            <a:pPr marL="0" indent="0" algn="ctr">
              <a:lnSpc>
                <a:spcPct val="100000"/>
              </a:lnSpc>
              <a:spcBef>
                <a:spcPts val="133"/>
              </a:spcBef>
              <a:buNone/>
            </a:pPr>
            <a:r>
              <a:rPr lang="en-US" sz="2000" b="1" dirty="0">
                <a:solidFill>
                  <a:srgbClr val="00B050"/>
                </a:solidFill>
                <a:latin typeface="Times New Roman"/>
                <a:ea typeface="Times New Roman"/>
                <a:cs typeface="Times New Roman"/>
                <a:sym typeface="Times New Roman"/>
              </a:rPr>
              <a:t>Deep Learning and Medical Image Analysis</a:t>
            </a:r>
            <a:endParaRPr sz="2000">
              <a:latin typeface="Times New Roman" panose="02020603050405020304" pitchFamily="18" charset="0"/>
              <a:cs typeface="Times New Roman" panose="02020603050405020304" pitchFamily="18" charset="0"/>
            </a:endParaRPr>
          </a:p>
          <a:p>
            <a:pPr marL="2062490" marR="1646441" indent="0" algn="ctr">
              <a:lnSpc>
                <a:spcPct val="100000"/>
              </a:lnSpc>
              <a:spcBef>
                <a:spcPts val="1365"/>
              </a:spcBef>
              <a:buNone/>
            </a:pPr>
            <a:r>
              <a:rPr sz="2000" b="1">
                <a:solidFill>
                  <a:srgbClr val="FF0000"/>
                </a:solidFill>
                <a:latin typeface="Times New Roman" panose="02020603050405020304" pitchFamily="18" charset="0"/>
                <a:cs typeface="Times New Roman" panose="02020603050405020304" pitchFamily="18" charset="0"/>
              </a:rPr>
              <a:t>B.Tech</a:t>
            </a:r>
            <a:r>
              <a:rPr sz="2000" b="1" spc="-73">
                <a:solidFill>
                  <a:srgbClr val="FF0000"/>
                </a:solidFill>
                <a:latin typeface="Times New Roman" panose="02020603050405020304" pitchFamily="18" charset="0"/>
                <a:cs typeface="Times New Roman" panose="02020603050405020304" pitchFamily="18" charset="0"/>
              </a:rPr>
              <a:t> </a:t>
            </a:r>
            <a:r>
              <a:rPr sz="2000" b="1" dirty="0">
                <a:solidFill>
                  <a:srgbClr val="FF0000"/>
                </a:solidFill>
                <a:latin typeface="Times New Roman" panose="02020603050405020304" pitchFamily="18" charset="0"/>
                <a:cs typeface="Times New Roman" panose="02020603050405020304" pitchFamily="18" charset="0"/>
              </a:rPr>
              <a:t>in</a:t>
            </a:r>
            <a:r>
              <a:rPr sz="2000" b="1" spc="-47" dirty="0">
                <a:solidFill>
                  <a:srgbClr val="FF0000"/>
                </a:solidFill>
                <a:latin typeface="Times New Roman" panose="02020603050405020304" pitchFamily="18" charset="0"/>
                <a:cs typeface="Times New Roman" panose="02020603050405020304" pitchFamily="18" charset="0"/>
              </a:rPr>
              <a:t> </a:t>
            </a:r>
            <a:r>
              <a:rPr sz="2000" b="1" dirty="0">
                <a:solidFill>
                  <a:srgbClr val="FF0000"/>
                </a:solidFill>
                <a:latin typeface="Times New Roman" panose="02020603050405020304" pitchFamily="18" charset="0"/>
                <a:cs typeface="Times New Roman" panose="02020603050405020304" pitchFamily="18" charset="0"/>
              </a:rPr>
              <a:t>Information</a:t>
            </a:r>
            <a:r>
              <a:rPr sz="2000" b="1" spc="-40" dirty="0">
                <a:solidFill>
                  <a:srgbClr val="FF0000"/>
                </a:solidFill>
                <a:latin typeface="Times New Roman" panose="02020603050405020304" pitchFamily="18" charset="0"/>
                <a:cs typeface="Times New Roman" panose="02020603050405020304" pitchFamily="18" charset="0"/>
              </a:rPr>
              <a:t> </a:t>
            </a:r>
            <a:r>
              <a:rPr sz="2000" b="1" spc="-13" dirty="0">
                <a:solidFill>
                  <a:srgbClr val="FF0000"/>
                </a:solidFill>
                <a:latin typeface="Times New Roman" panose="02020603050405020304" pitchFamily="18" charset="0"/>
                <a:cs typeface="Times New Roman" panose="02020603050405020304" pitchFamily="18" charset="0"/>
              </a:rPr>
              <a:t>Technology </a:t>
            </a:r>
            <a:endParaRPr lang="en-US" sz="2000" b="1" spc="-13" dirty="0">
              <a:solidFill>
                <a:srgbClr val="FF0000"/>
              </a:solidFill>
              <a:latin typeface="Times New Roman" panose="02020603050405020304" pitchFamily="18" charset="0"/>
              <a:cs typeface="Times New Roman" panose="02020603050405020304" pitchFamily="18" charset="0"/>
            </a:endParaRPr>
          </a:p>
          <a:p>
            <a:pPr marL="2062490" marR="1646441" indent="0" algn="ctr">
              <a:lnSpc>
                <a:spcPct val="100000"/>
              </a:lnSpc>
              <a:spcBef>
                <a:spcPts val="1365"/>
              </a:spcBef>
              <a:buNone/>
            </a:pPr>
            <a:r>
              <a:rPr sz="2000" b="1" dirty="0">
                <a:solidFill>
                  <a:srgbClr val="BE11A6"/>
                </a:solidFill>
                <a:latin typeface="Times New Roman" panose="02020603050405020304" pitchFamily="18" charset="0"/>
                <a:cs typeface="Times New Roman" panose="02020603050405020304" pitchFamily="18" charset="0"/>
              </a:rPr>
              <a:t>Major</a:t>
            </a:r>
            <a:r>
              <a:rPr sz="2000" b="1" spc="-113" dirty="0">
                <a:solidFill>
                  <a:srgbClr val="BE11A6"/>
                </a:solidFill>
                <a:latin typeface="Times New Roman" panose="02020603050405020304" pitchFamily="18" charset="0"/>
                <a:cs typeface="Times New Roman" panose="02020603050405020304" pitchFamily="18" charset="0"/>
              </a:rPr>
              <a:t> </a:t>
            </a:r>
            <a:r>
              <a:rPr sz="2000" b="1" dirty="0">
                <a:solidFill>
                  <a:srgbClr val="BE11A6"/>
                </a:solidFill>
                <a:latin typeface="Times New Roman" panose="02020603050405020304" pitchFamily="18" charset="0"/>
                <a:cs typeface="Times New Roman" panose="02020603050405020304" pitchFamily="18" charset="0"/>
              </a:rPr>
              <a:t>Project</a:t>
            </a:r>
            <a:r>
              <a:rPr sz="2000" b="1" spc="-47" dirty="0">
                <a:solidFill>
                  <a:srgbClr val="BE11A6"/>
                </a:solidFill>
                <a:latin typeface="Times New Roman" panose="02020603050405020304" pitchFamily="18" charset="0"/>
                <a:cs typeface="Times New Roman" panose="02020603050405020304" pitchFamily="18" charset="0"/>
              </a:rPr>
              <a:t> </a:t>
            </a:r>
            <a:r>
              <a:rPr sz="2000" b="1" dirty="0">
                <a:solidFill>
                  <a:srgbClr val="BE11A6"/>
                </a:solidFill>
                <a:latin typeface="Times New Roman" panose="02020603050405020304" pitchFamily="18" charset="0"/>
                <a:cs typeface="Times New Roman" panose="02020603050405020304" pitchFamily="18" charset="0"/>
              </a:rPr>
              <a:t>Review</a:t>
            </a:r>
            <a:r>
              <a:rPr sz="2000" b="1" spc="-20" dirty="0">
                <a:solidFill>
                  <a:srgbClr val="BE11A6"/>
                </a:solidFill>
                <a:latin typeface="Times New Roman" panose="02020603050405020304" pitchFamily="18" charset="0"/>
                <a:cs typeface="Times New Roman" panose="02020603050405020304" pitchFamily="18" charset="0"/>
              </a:rPr>
              <a:t> </a:t>
            </a:r>
            <a:r>
              <a:rPr sz="2000" b="1" spc="-13" dirty="0">
                <a:solidFill>
                  <a:srgbClr val="BE11A6"/>
                </a:solidFill>
                <a:latin typeface="Times New Roman" panose="02020603050405020304" pitchFamily="18" charset="0"/>
                <a:cs typeface="Times New Roman" panose="02020603050405020304" pitchFamily="18" charset="0"/>
              </a:rPr>
              <a:t>Presentation</a:t>
            </a:r>
            <a:endParaRPr sz="2000" dirty="0">
              <a:latin typeface="Times New Roman" panose="02020603050405020304" pitchFamily="18" charset="0"/>
              <a:cs typeface="Times New Roman" panose="02020603050405020304" pitchFamily="18" charset="0"/>
            </a:endParaRPr>
          </a:p>
          <a:p>
            <a:pPr marL="0" indent="0" algn="ctr">
              <a:lnSpc>
                <a:spcPct val="100000"/>
              </a:lnSpc>
              <a:spcBef>
                <a:spcPts val="353"/>
              </a:spcBef>
              <a:buNone/>
            </a:pPr>
            <a:r>
              <a:rPr sz="2200" dirty="0">
                <a:latin typeface="Times New Roman" panose="02020603050405020304" pitchFamily="18" charset="0"/>
                <a:cs typeface="Times New Roman" panose="02020603050405020304" pitchFamily="18" charset="0"/>
              </a:rPr>
              <a:t>Presented</a:t>
            </a:r>
            <a:r>
              <a:rPr sz="2200" spc="-87" dirty="0">
                <a:latin typeface="Times New Roman" panose="02020603050405020304" pitchFamily="18" charset="0"/>
                <a:cs typeface="Times New Roman" panose="02020603050405020304" pitchFamily="18" charset="0"/>
              </a:rPr>
              <a:t> </a:t>
            </a:r>
            <a:r>
              <a:rPr sz="2200" spc="-33" dirty="0">
                <a:latin typeface="Times New Roman" panose="02020603050405020304" pitchFamily="18" charset="0"/>
                <a:cs typeface="Times New Roman" panose="02020603050405020304" pitchFamily="18" charset="0"/>
              </a:rPr>
              <a:t>by</a:t>
            </a:r>
            <a:endParaRPr sz="2200" dirty="0">
              <a:latin typeface="Times New Roman" panose="02020603050405020304" pitchFamily="18" charset="0"/>
              <a:cs typeface="Times New Roman" panose="02020603050405020304" pitchFamily="18" charset="0"/>
            </a:endParaRPr>
          </a:p>
          <a:p>
            <a:pPr marL="0" lvl="0" indent="0" algn="ctr">
              <a:buClr>
                <a:srgbClr val="7030A0"/>
              </a:buClr>
              <a:buSzPts val="3100"/>
              <a:buNone/>
            </a:pPr>
            <a:r>
              <a:rPr lang="en-US" sz="1800" b="1" dirty="0">
                <a:solidFill>
                  <a:srgbClr val="7030A0"/>
                </a:solidFill>
                <a:latin typeface="Times New Roman"/>
                <a:ea typeface="Times New Roman"/>
                <a:cs typeface="Times New Roman"/>
                <a:sym typeface="Times New Roman"/>
              </a:rPr>
              <a:t>Potluri Sri Teja (228W1A12I2)</a:t>
            </a:r>
            <a:endParaRPr lang="en-IN" sz="1800" dirty="0"/>
          </a:p>
          <a:p>
            <a:pPr marL="0" lvl="0" indent="0" algn="ctr">
              <a:buClr>
                <a:srgbClr val="7030A0"/>
              </a:buClr>
              <a:buSzPts val="3100"/>
              <a:buNone/>
            </a:pPr>
            <a:r>
              <a:rPr lang="en-US" sz="1800" b="1" dirty="0" err="1">
                <a:solidFill>
                  <a:srgbClr val="7030A0"/>
                </a:solidFill>
                <a:latin typeface="Times New Roman"/>
                <a:ea typeface="Times New Roman"/>
                <a:cs typeface="Times New Roman"/>
                <a:sym typeface="Times New Roman"/>
              </a:rPr>
              <a:t>Kamisetty</a:t>
            </a:r>
            <a:r>
              <a:rPr lang="en-US" sz="1800" b="1" dirty="0">
                <a:solidFill>
                  <a:srgbClr val="7030A0"/>
                </a:solidFill>
                <a:latin typeface="Times New Roman"/>
                <a:ea typeface="Times New Roman"/>
                <a:cs typeface="Times New Roman"/>
                <a:sym typeface="Times New Roman"/>
              </a:rPr>
              <a:t> Deekshitha </a:t>
            </a:r>
            <a:r>
              <a:rPr lang="en-IN" sz="1800" b="1" dirty="0">
                <a:solidFill>
                  <a:srgbClr val="7030A0"/>
                </a:solidFill>
                <a:latin typeface="Times New Roman"/>
                <a:ea typeface="Times New Roman"/>
                <a:cs typeface="Times New Roman"/>
                <a:sym typeface="Times New Roman"/>
              </a:rPr>
              <a:t>(228W1A12F8)</a:t>
            </a:r>
          </a:p>
          <a:p>
            <a:pPr marL="0" lvl="0" indent="0" algn="ctr">
              <a:buClr>
                <a:srgbClr val="7030A0"/>
              </a:buClr>
              <a:buSzPts val="3100"/>
              <a:buNone/>
            </a:pPr>
            <a:endParaRPr lang="en-IN" sz="2000" dirty="0">
              <a:latin typeface="Times New Roman" panose="02020603050405020304" pitchFamily="18" charset="0"/>
              <a:cs typeface="Times New Roman" panose="02020603050405020304" pitchFamily="18" charset="0"/>
            </a:endParaRPr>
          </a:p>
          <a:p>
            <a:pPr marL="0" indent="0" algn="ctr">
              <a:lnSpc>
                <a:spcPts val="2549"/>
              </a:lnSpc>
              <a:buNone/>
            </a:pPr>
            <a:r>
              <a:rPr sz="1600" dirty="0">
                <a:latin typeface="Times New Roman" panose="02020603050405020304" pitchFamily="18" charset="0"/>
                <a:cs typeface="Times New Roman" panose="02020603050405020304" pitchFamily="18" charset="0"/>
              </a:rPr>
              <a:t>Under</a:t>
            </a:r>
            <a:r>
              <a:rPr sz="1600" spc="-20"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the guidance</a:t>
            </a:r>
            <a:r>
              <a:rPr sz="1600" spc="-60" dirty="0">
                <a:latin typeface="Times New Roman" panose="02020603050405020304" pitchFamily="18" charset="0"/>
                <a:cs typeface="Times New Roman" panose="02020603050405020304" pitchFamily="18" charset="0"/>
              </a:rPr>
              <a:t> </a:t>
            </a:r>
            <a:r>
              <a:rPr sz="1600" spc="-33" dirty="0">
                <a:latin typeface="Times New Roman" panose="02020603050405020304" pitchFamily="18" charset="0"/>
                <a:cs typeface="Times New Roman" panose="02020603050405020304" pitchFamily="18" charset="0"/>
              </a:rPr>
              <a:t>of</a:t>
            </a:r>
            <a:endParaRPr sz="1600" dirty="0">
              <a:latin typeface="Times New Roman" panose="02020603050405020304" pitchFamily="18" charset="0"/>
              <a:cs typeface="Times New Roman" panose="02020603050405020304" pitchFamily="18" charset="0"/>
            </a:endParaRPr>
          </a:p>
          <a:p>
            <a:pPr marL="0" indent="0" algn="ctr">
              <a:lnSpc>
                <a:spcPts val="3189"/>
              </a:lnSpc>
              <a:buNone/>
            </a:pPr>
            <a:r>
              <a:rPr sz="2000" b="1" dirty="0">
                <a:solidFill>
                  <a:srgbClr val="FF0000"/>
                </a:solidFill>
                <a:latin typeface="Times New Roman" panose="02020603050405020304" pitchFamily="18" charset="0"/>
                <a:cs typeface="Times New Roman" panose="02020603050405020304" pitchFamily="18" charset="0"/>
              </a:rPr>
              <a:t>Dr.</a:t>
            </a:r>
            <a:r>
              <a:rPr sz="2000" b="1" spc="-27" dirty="0">
                <a:solidFill>
                  <a:srgbClr val="FF0000"/>
                </a:solidFill>
                <a:latin typeface="Times New Roman" panose="02020603050405020304" pitchFamily="18" charset="0"/>
                <a:cs typeface="Times New Roman" panose="02020603050405020304" pitchFamily="18" charset="0"/>
              </a:rPr>
              <a:t> </a:t>
            </a:r>
            <a:r>
              <a:rPr lang="en-US" sz="2000" b="1" spc="-27" dirty="0">
                <a:solidFill>
                  <a:srgbClr val="FF0000"/>
                </a:solidFill>
                <a:latin typeface="Times New Roman" panose="02020603050405020304" pitchFamily="18" charset="0"/>
                <a:cs typeface="Times New Roman" panose="02020603050405020304" pitchFamily="18" charset="0"/>
              </a:rPr>
              <a:t>Y. Sangeetha</a:t>
            </a:r>
            <a:r>
              <a:rPr sz="2000" b="1" dirty="0">
                <a:solidFill>
                  <a:srgbClr val="FF0000"/>
                </a:solidFill>
                <a:latin typeface="Times New Roman" panose="02020603050405020304" pitchFamily="18" charset="0"/>
                <a:cs typeface="Times New Roman" panose="02020603050405020304" pitchFamily="18" charset="0"/>
              </a:rPr>
              <a:t>,</a:t>
            </a:r>
            <a:r>
              <a:rPr sz="2000" b="1" spc="-53" dirty="0">
                <a:solidFill>
                  <a:srgbClr val="FF0000"/>
                </a:solidFill>
                <a:latin typeface="Times New Roman" panose="02020603050405020304" pitchFamily="18" charset="0"/>
                <a:cs typeface="Times New Roman" panose="02020603050405020304" pitchFamily="18" charset="0"/>
              </a:rPr>
              <a:t> </a:t>
            </a:r>
            <a:r>
              <a:rPr sz="2000" b="1" spc="-13" dirty="0" err="1">
                <a:solidFill>
                  <a:srgbClr val="FF0000"/>
                </a:solidFill>
                <a:latin typeface="Times New Roman" panose="02020603050405020304" pitchFamily="18" charset="0"/>
                <a:cs typeface="Times New Roman" panose="02020603050405020304" pitchFamily="18" charset="0"/>
              </a:rPr>
              <a:t>Assoc.Prof</a:t>
            </a:r>
            <a:r>
              <a:rPr sz="2000" b="1" spc="-13" dirty="0">
                <a:solidFill>
                  <a:srgbClr val="FF0000"/>
                </a:solidFill>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p:txBody>
      </p:sp>
      <p:pic>
        <p:nvPicPr>
          <p:cNvPr id="3" name="object 3"/>
          <p:cNvPicPr/>
          <p:nvPr/>
        </p:nvPicPr>
        <p:blipFill>
          <a:blip r:embed="rId3" cstate="print"/>
          <a:stretch>
            <a:fillRect/>
          </a:stretch>
        </p:blipFill>
        <p:spPr>
          <a:xfrm>
            <a:off x="413415" y="353131"/>
            <a:ext cx="2106381" cy="826421"/>
          </a:xfrm>
          <a:prstGeom prst="rect">
            <a:avLst/>
          </a:prstGeom>
        </p:spPr>
      </p:pic>
      <p:pic>
        <p:nvPicPr>
          <p:cNvPr id="4" name="object 4"/>
          <p:cNvPicPr/>
          <p:nvPr/>
        </p:nvPicPr>
        <p:blipFill>
          <a:blip r:embed="rId4" cstate="print"/>
          <a:stretch>
            <a:fillRect/>
          </a:stretch>
        </p:blipFill>
        <p:spPr>
          <a:xfrm>
            <a:off x="10256464" y="93356"/>
            <a:ext cx="1424705" cy="1237990"/>
          </a:xfrm>
          <a:prstGeom prst="rect">
            <a:avLst/>
          </a:prstGeom>
        </p:spPr>
      </p:pic>
      <p:sp>
        <p:nvSpPr>
          <p:cNvPr id="5" name="object 5"/>
          <p:cNvSpPr txBox="1">
            <a:spLocks noGrp="1"/>
          </p:cNvSpPr>
          <p:nvPr>
            <p:ph type="title"/>
          </p:nvPr>
        </p:nvSpPr>
        <p:spPr>
          <a:xfrm>
            <a:off x="943756" y="288671"/>
            <a:ext cx="10304485" cy="847360"/>
          </a:xfrm>
          <a:prstGeom prst="rect">
            <a:avLst/>
          </a:prstGeom>
        </p:spPr>
        <p:txBody>
          <a:bodyPr spcFirstLastPara="1" vert="horz" wrap="square" lIns="0" tIns="94945" rIns="0" bIns="0" rtlCol="0" anchor="ctr" anchorCtr="0">
            <a:spAutoFit/>
          </a:bodyPr>
          <a:lstStyle/>
          <a:p>
            <a:pPr marL="2773665" marR="6765" indent="-251998">
              <a:lnSpc>
                <a:spcPct val="100000"/>
              </a:lnSpc>
              <a:spcBef>
                <a:spcPts val="133"/>
              </a:spcBef>
            </a:pPr>
            <a:r>
              <a:rPr sz="2400" b="1" dirty="0">
                <a:solidFill>
                  <a:srgbClr val="0000FF"/>
                </a:solidFill>
                <a:latin typeface="Times New Roman" panose="02020603050405020304" pitchFamily="18" charset="0"/>
                <a:cs typeface="Times New Roman" panose="02020603050405020304" pitchFamily="18" charset="0"/>
              </a:rPr>
              <a:t>Department</a:t>
            </a:r>
            <a:r>
              <a:rPr sz="2400" b="1" spc="-40" dirty="0">
                <a:solidFill>
                  <a:srgbClr val="0000FF"/>
                </a:solidFill>
                <a:latin typeface="Times New Roman" panose="02020603050405020304" pitchFamily="18" charset="0"/>
                <a:cs typeface="Times New Roman" panose="02020603050405020304" pitchFamily="18" charset="0"/>
              </a:rPr>
              <a:t> </a:t>
            </a:r>
            <a:r>
              <a:rPr sz="2400" b="1" dirty="0">
                <a:solidFill>
                  <a:srgbClr val="0000FF"/>
                </a:solidFill>
                <a:latin typeface="Times New Roman" panose="02020603050405020304" pitchFamily="18" charset="0"/>
                <a:cs typeface="Times New Roman" panose="02020603050405020304" pitchFamily="18" charset="0"/>
              </a:rPr>
              <a:t>of</a:t>
            </a:r>
            <a:r>
              <a:rPr sz="2400" b="1" spc="-120" dirty="0">
                <a:solidFill>
                  <a:srgbClr val="0000FF"/>
                </a:solidFill>
                <a:latin typeface="Times New Roman" panose="02020603050405020304" pitchFamily="18" charset="0"/>
                <a:cs typeface="Times New Roman" panose="02020603050405020304" pitchFamily="18" charset="0"/>
              </a:rPr>
              <a:t> </a:t>
            </a:r>
            <a:r>
              <a:rPr sz="2400" b="1" dirty="0">
                <a:solidFill>
                  <a:srgbClr val="0000FF"/>
                </a:solidFill>
                <a:latin typeface="Times New Roman" panose="02020603050405020304" pitchFamily="18" charset="0"/>
                <a:cs typeface="Times New Roman" panose="02020603050405020304" pitchFamily="18" charset="0"/>
              </a:rPr>
              <a:t>Information</a:t>
            </a:r>
            <a:r>
              <a:rPr sz="2400" b="1" spc="-113" dirty="0">
                <a:solidFill>
                  <a:srgbClr val="0000FF"/>
                </a:solidFill>
                <a:latin typeface="Times New Roman" panose="02020603050405020304" pitchFamily="18" charset="0"/>
                <a:cs typeface="Times New Roman" panose="02020603050405020304" pitchFamily="18" charset="0"/>
              </a:rPr>
              <a:t> </a:t>
            </a:r>
            <a:r>
              <a:rPr sz="2400" b="1" spc="-13" dirty="0">
                <a:solidFill>
                  <a:srgbClr val="0000FF"/>
                </a:solidFill>
                <a:latin typeface="Times New Roman" panose="02020603050405020304" pitchFamily="18" charset="0"/>
                <a:cs typeface="Times New Roman" panose="02020603050405020304" pitchFamily="18" charset="0"/>
              </a:rPr>
              <a:t>Technology </a:t>
            </a:r>
            <a:br>
              <a:rPr lang="en-US" sz="2400" b="1" spc="-13" dirty="0">
                <a:solidFill>
                  <a:srgbClr val="0000FF"/>
                </a:solidFill>
                <a:latin typeface="Times New Roman" panose="02020603050405020304" pitchFamily="18" charset="0"/>
                <a:cs typeface="Times New Roman" panose="02020603050405020304" pitchFamily="18" charset="0"/>
              </a:rPr>
            </a:br>
            <a:r>
              <a:rPr sz="2400" b="1" dirty="0">
                <a:solidFill>
                  <a:srgbClr val="FF0000"/>
                </a:solidFill>
                <a:latin typeface="Times New Roman" panose="02020603050405020304" pitchFamily="18" charset="0"/>
                <a:cs typeface="Times New Roman" panose="02020603050405020304" pitchFamily="18" charset="0"/>
              </a:rPr>
              <a:t>V</a:t>
            </a:r>
            <a:r>
              <a:rPr sz="2400" b="1" spc="-53" dirty="0">
                <a:solidFill>
                  <a:srgbClr val="FF0000"/>
                </a:solidFill>
                <a:latin typeface="Times New Roman" panose="02020603050405020304" pitchFamily="18" charset="0"/>
                <a:cs typeface="Times New Roman" panose="02020603050405020304" pitchFamily="18" charset="0"/>
              </a:rPr>
              <a:t> </a:t>
            </a:r>
            <a:r>
              <a:rPr sz="2400" b="1" dirty="0">
                <a:solidFill>
                  <a:srgbClr val="FF0000"/>
                </a:solidFill>
                <a:latin typeface="Times New Roman" panose="02020603050405020304" pitchFamily="18" charset="0"/>
                <a:cs typeface="Times New Roman" panose="02020603050405020304" pitchFamily="18" charset="0"/>
              </a:rPr>
              <a:t>R</a:t>
            </a:r>
            <a:r>
              <a:rPr sz="2400" b="1" spc="-20" dirty="0">
                <a:solidFill>
                  <a:srgbClr val="FF0000"/>
                </a:solidFill>
                <a:latin typeface="Times New Roman" panose="02020603050405020304" pitchFamily="18" charset="0"/>
                <a:cs typeface="Times New Roman" panose="02020603050405020304" pitchFamily="18" charset="0"/>
              </a:rPr>
              <a:t> </a:t>
            </a:r>
            <a:r>
              <a:rPr sz="2400" b="1" dirty="0">
                <a:solidFill>
                  <a:srgbClr val="FF0000"/>
                </a:solidFill>
                <a:latin typeface="Times New Roman" panose="02020603050405020304" pitchFamily="18" charset="0"/>
                <a:cs typeface="Times New Roman" panose="02020603050405020304" pitchFamily="18" charset="0"/>
              </a:rPr>
              <a:t>Siddhartha</a:t>
            </a:r>
            <a:r>
              <a:rPr sz="2400" b="1" spc="-67" dirty="0">
                <a:solidFill>
                  <a:srgbClr val="FF0000"/>
                </a:solidFill>
                <a:latin typeface="Times New Roman" panose="02020603050405020304" pitchFamily="18" charset="0"/>
                <a:cs typeface="Times New Roman" panose="02020603050405020304" pitchFamily="18" charset="0"/>
              </a:rPr>
              <a:t> </a:t>
            </a:r>
            <a:r>
              <a:rPr sz="2400" b="1" dirty="0">
                <a:solidFill>
                  <a:srgbClr val="FF0000"/>
                </a:solidFill>
                <a:latin typeface="Times New Roman" panose="02020603050405020304" pitchFamily="18" charset="0"/>
                <a:cs typeface="Times New Roman" panose="02020603050405020304" pitchFamily="18" charset="0"/>
              </a:rPr>
              <a:t>Engineering</a:t>
            </a:r>
            <a:r>
              <a:rPr sz="2400" b="1" spc="-67" dirty="0">
                <a:solidFill>
                  <a:srgbClr val="FF0000"/>
                </a:solidFill>
                <a:latin typeface="Times New Roman" panose="02020603050405020304" pitchFamily="18" charset="0"/>
                <a:cs typeface="Times New Roman" panose="02020603050405020304" pitchFamily="18" charset="0"/>
              </a:rPr>
              <a:t> </a:t>
            </a:r>
            <a:r>
              <a:rPr sz="2400" b="1" spc="-13" dirty="0">
                <a:solidFill>
                  <a:srgbClr val="FF0000"/>
                </a:solidFill>
                <a:latin typeface="Times New Roman" panose="02020603050405020304" pitchFamily="18" charset="0"/>
                <a:cs typeface="Times New Roman" panose="02020603050405020304" pitchFamily="18" charset="0"/>
              </a:rPr>
              <a:t>College</a:t>
            </a:r>
            <a:endParaRPr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4936785" y="188790"/>
            <a:ext cx="2460569" cy="83873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US" sz="3200" b="1" dirty="0">
                <a:latin typeface="Times New Roman"/>
                <a:ea typeface="Times New Roman"/>
                <a:cs typeface="Times New Roman"/>
                <a:sym typeface="Times New Roman"/>
              </a:rPr>
              <a:t>  AGENDA</a:t>
            </a:r>
            <a:endParaRPr sz="3200" b="1" dirty="0"/>
          </a:p>
        </p:txBody>
      </p:sp>
      <p:sp>
        <p:nvSpPr>
          <p:cNvPr id="102" name="Google Shape;102;p2"/>
          <p:cNvSpPr txBox="1">
            <a:spLocks noGrp="1"/>
          </p:cNvSpPr>
          <p:nvPr>
            <p:ph type="body" idx="1"/>
          </p:nvPr>
        </p:nvSpPr>
        <p:spPr>
          <a:xfrm>
            <a:off x="600456" y="866758"/>
            <a:ext cx="10515600" cy="5802452"/>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ct val="108108"/>
              <a:buFont typeface="Arial"/>
              <a:buChar char="•"/>
            </a:pPr>
            <a:r>
              <a:rPr lang="en-US" sz="1800" dirty="0">
                <a:latin typeface="Times New Roman"/>
                <a:cs typeface="Times New Roman"/>
                <a:sym typeface="Times New Roman"/>
              </a:rPr>
              <a:t>Introduction and Problem Statement</a:t>
            </a:r>
            <a:endParaRPr sz="1800" dirty="0">
              <a:latin typeface="Times New Roman"/>
              <a:ea typeface="Times New Roman"/>
              <a:cs typeface="Times New Roman"/>
              <a:sym typeface="Times New Roman"/>
            </a:endParaRPr>
          </a:p>
          <a:p>
            <a:pPr marL="342900" lvl="0" indent="-342900" algn="l" rtl="0">
              <a:lnSpc>
                <a:spcPct val="150000"/>
              </a:lnSpc>
              <a:spcBef>
                <a:spcPts val="1000"/>
              </a:spcBef>
              <a:spcAft>
                <a:spcPts val="0"/>
              </a:spcAft>
              <a:buClr>
                <a:schemeClr val="dk1"/>
              </a:buClr>
              <a:buSzPct val="108108"/>
              <a:buFont typeface="Arial"/>
              <a:buChar char="•"/>
            </a:pPr>
            <a:r>
              <a:rPr lang="en-US" sz="1800" dirty="0">
                <a:solidFill>
                  <a:schemeClr val="dk1"/>
                </a:solidFill>
                <a:latin typeface="Times New Roman"/>
                <a:ea typeface="Times New Roman"/>
                <a:cs typeface="Times New Roman"/>
                <a:sym typeface="Times New Roman"/>
              </a:rPr>
              <a:t>Objectives and Outcomes of the Project</a:t>
            </a:r>
            <a:endParaRPr sz="1800" dirty="0">
              <a:latin typeface="Times New Roman"/>
              <a:ea typeface="Times New Roman"/>
              <a:cs typeface="Times New Roman"/>
              <a:sym typeface="Times New Roman"/>
            </a:endParaRPr>
          </a:p>
          <a:p>
            <a:pPr marL="342900" lvl="0" indent="-342900" algn="l" rtl="0">
              <a:lnSpc>
                <a:spcPct val="150000"/>
              </a:lnSpc>
              <a:spcBef>
                <a:spcPts val="1000"/>
              </a:spcBef>
              <a:spcAft>
                <a:spcPts val="0"/>
              </a:spcAft>
              <a:buClr>
                <a:schemeClr val="dk1"/>
              </a:buClr>
              <a:buSzPct val="108108"/>
              <a:buFont typeface="Arial"/>
              <a:buChar char="•"/>
            </a:pPr>
            <a:r>
              <a:rPr lang="en-US" sz="1800" dirty="0">
                <a:solidFill>
                  <a:schemeClr val="dk1"/>
                </a:solidFill>
                <a:latin typeface="Times New Roman"/>
                <a:ea typeface="Times New Roman"/>
                <a:cs typeface="Times New Roman"/>
                <a:sym typeface="Times New Roman"/>
              </a:rPr>
              <a:t>Literature Summary</a:t>
            </a:r>
            <a:endParaRPr sz="1800" dirty="0"/>
          </a:p>
          <a:p>
            <a:pPr marL="342900" lvl="0" indent="-342900" algn="l" rtl="0">
              <a:lnSpc>
                <a:spcPct val="150000"/>
              </a:lnSpc>
              <a:spcBef>
                <a:spcPts val="1000"/>
              </a:spcBef>
              <a:spcAft>
                <a:spcPts val="0"/>
              </a:spcAft>
              <a:buClr>
                <a:schemeClr val="dk1"/>
              </a:buClr>
              <a:buSzPct val="108108"/>
              <a:buFont typeface="Arial"/>
              <a:buChar char="•"/>
            </a:pPr>
            <a:r>
              <a:rPr lang="en-US" sz="1800" dirty="0">
                <a:solidFill>
                  <a:schemeClr val="dk1"/>
                </a:solidFill>
                <a:latin typeface="Times New Roman"/>
                <a:ea typeface="Times New Roman"/>
                <a:cs typeface="Times New Roman"/>
                <a:sym typeface="Times New Roman"/>
              </a:rPr>
              <a:t>Datasets and Requirements specifications</a:t>
            </a:r>
            <a:endParaRPr sz="1800" dirty="0"/>
          </a:p>
          <a:p>
            <a:pPr marL="342900" lvl="0" indent="-342900" algn="l" rtl="0">
              <a:lnSpc>
                <a:spcPct val="150000"/>
              </a:lnSpc>
              <a:spcBef>
                <a:spcPts val="1000"/>
              </a:spcBef>
              <a:spcAft>
                <a:spcPts val="0"/>
              </a:spcAft>
              <a:buClr>
                <a:schemeClr val="dk1"/>
              </a:buClr>
              <a:buSzPct val="108108"/>
              <a:buFont typeface="Arial"/>
              <a:buChar char="•"/>
            </a:pPr>
            <a:r>
              <a:rPr lang="en-US" sz="1800" dirty="0">
                <a:solidFill>
                  <a:schemeClr val="dk1"/>
                </a:solidFill>
                <a:latin typeface="Times New Roman"/>
                <a:ea typeface="Times New Roman"/>
                <a:cs typeface="Times New Roman"/>
                <a:sym typeface="Times New Roman"/>
              </a:rPr>
              <a:t>Algorithms involved </a:t>
            </a:r>
            <a:endParaRPr sz="1800" dirty="0">
              <a:latin typeface="Times New Roman"/>
              <a:ea typeface="Times New Roman"/>
              <a:cs typeface="Times New Roman"/>
              <a:sym typeface="Times New Roman"/>
            </a:endParaRPr>
          </a:p>
          <a:p>
            <a:pPr marL="342900" lvl="0" indent="-342900" algn="l" rtl="0">
              <a:lnSpc>
                <a:spcPct val="150000"/>
              </a:lnSpc>
              <a:spcBef>
                <a:spcPts val="1000"/>
              </a:spcBef>
              <a:spcAft>
                <a:spcPts val="0"/>
              </a:spcAft>
              <a:buClr>
                <a:schemeClr val="dk1"/>
              </a:buClr>
              <a:buSzPct val="108108"/>
              <a:buFont typeface="Arial"/>
              <a:buChar char="•"/>
            </a:pPr>
            <a:r>
              <a:rPr lang="en-US" sz="1800" dirty="0">
                <a:solidFill>
                  <a:schemeClr val="dk1"/>
                </a:solidFill>
                <a:latin typeface="Times New Roman"/>
                <a:ea typeface="Times New Roman"/>
                <a:cs typeface="Times New Roman"/>
                <a:sym typeface="Times New Roman"/>
              </a:rPr>
              <a:t>Architecture</a:t>
            </a:r>
            <a:r>
              <a:rPr lang="en-US" sz="1800" dirty="0">
                <a:latin typeface="Times New Roman"/>
                <a:ea typeface="Times New Roman"/>
                <a:cs typeface="Times New Roman"/>
                <a:sym typeface="Times New Roman"/>
              </a:rPr>
              <a:t> </a:t>
            </a:r>
            <a:r>
              <a:rPr lang="en-US" sz="1800" dirty="0">
                <a:solidFill>
                  <a:schemeClr val="dk1"/>
                </a:solidFill>
                <a:latin typeface="Times New Roman"/>
                <a:ea typeface="Times New Roman"/>
                <a:cs typeface="Times New Roman"/>
                <a:sym typeface="Times New Roman"/>
              </a:rPr>
              <a:t>diagram</a:t>
            </a:r>
          </a:p>
          <a:p>
            <a:pPr marL="342900" lvl="0" indent="-342900" algn="l" rtl="0">
              <a:lnSpc>
                <a:spcPct val="150000"/>
              </a:lnSpc>
              <a:spcBef>
                <a:spcPts val="1000"/>
              </a:spcBef>
              <a:spcAft>
                <a:spcPts val="0"/>
              </a:spcAft>
              <a:buClr>
                <a:schemeClr val="dk1"/>
              </a:buClr>
              <a:buSzPct val="108108"/>
              <a:buFont typeface="Arial"/>
              <a:buChar char="•"/>
            </a:pPr>
            <a:r>
              <a:rPr lang="en-US" sz="1800" dirty="0">
                <a:solidFill>
                  <a:schemeClr val="dk1"/>
                </a:solidFill>
                <a:latin typeface="Times New Roman"/>
                <a:ea typeface="Times New Roman"/>
                <a:cs typeface="Times New Roman"/>
                <a:sym typeface="Times New Roman"/>
              </a:rPr>
              <a:t>Implementation steps </a:t>
            </a:r>
            <a:endParaRPr lang="en-US" sz="1800" dirty="0">
              <a:latin typeface="Times New Roman"/>
              <a:ea typeface="Times New Roman"/>
              <a:cs typeface="Times New Roman"/>
              <a:sym typeface="Times New Roman"/>
            </a:endParaRPr>
          </a:p>
          <a:p>
            <a:pPr marL="342900" lvl="0" indent="-342900" algn="l" rtl="0">
              <a:lnSpc>
                <a:spcPct val="150000"/>
              </a:lnSpc>
              <a:spcBef>
                <a:spcPts val="1000"/>
              </a:spcBef>
              <a:spcAft>
                <a:spcPts val="0"/>
              </a:spcAft>
              <a:buClr>
                <a:schemeClr val="dk1"/>
              </a:buClr>
              <a:buSzPct val="108108"/>
              <a:buFont typeface="Arial"/>
              <a:buChar char="•"/>
            </a:pPr>
            <a:r>
              <a:rPr lang="en-IN" sz="1800" dirty="0">
                <a:latin typeface="Times New Roman"/>
                <a:ea typeface="Times New Roman"/>
                <a:cs typeface="Times New Roman"/>
                <a:sym typeface="Times New Roman"/>
              </a:rPr>
              <a:t>Results</a:t>
            </a:r>
          </a:p>
          <a:p>
            <a:pPr marL="342900" lvl="0" indent="-342900" algn="l" rtl="0">
              <a:lnSpc>
                <a:spcPct val="150000"/>
              </a:lnSpc>
              <a:spcBef>
                <a:spcPts val="1000"/>
              </a:spcBef>
              <a:spcAft>
                <a:spcPts val="0"/>
              </a:spcAft>
              <a:buClr>
                <a:schemeClr val="dk1"/>
              </a:buClr>
              <a:buSzPct val="108108"/>
              <a:buFont typeface="Arial"/>
              <a:buChar char="•"/>
            </a:pPr>
            <a:r>
              <a:rPr lang="en-IN" sz="1800" dirty="0">
                <a:latin typeface="Times New Roman"/>
                <a:ea typeface="Times New Roman"/>
                <a:cs typeface="Times New Roman"/>
                <a:sym typeface="Times New Roman"/>
              </a:rPr>
              <a:t>Conclusion and Future work</a:t>
            </a:r>
            <a:endParaRPr sz="1800" dirty="0">
              <a:latin typeface="Times New Roman"/>
              <a:ea typeface="Times New Roman"/>
              <a:cs typeface="Times New Roman"/>
              <a:sym typeface="Times New Roman"/>
            </a:endParaRPr>
          </a:p>
          <a:p>
            <a:pPr marL="342900" lvl="0" indent="-342900" algn="l" rtl="0">
              <a:lnSpc>
                <a:spcPct val="150000"/>
              </a:lnSpc>
              <a:spcBef>
                <a:spcPts val="1000"/>
              </a:spcBef>
              <a:spcAft>
                <a:spcPts val="0"/>
              </a:spcAft>
              <a:buClr>
                <a:schemeClr val="dk1"/>
              </a:buClr>
              <a:buSzPct val="108108"/>
              <a:buFont typeface="Arial"/>
              <a:buChar char="•"/>
            </a:pPr>
            <a:r>
              <a:rPr lang="en-US" sz="1800" dirty="0">
                <a:solidFill>
                  <a:schemeClr val="dk1"/>
                </a:solidFill>
                <a:latin typeface="Times New Roman"/>
                <a:ea typeface="Times New Roman"/>
                <a:cs typeface="Times New Roman"/>
                <a:sym typeface="Times New Roman"/>
              </a:rPr>
              <a:t>References</a:t>
            </a:r>
            <a:endParaRPr sz="1800" dirty="0"/>
          </a:p>
          <a:p>
            <a:pPr marL="12700" lvl="0" indent="128270" algn="l" rtl="0">
              <a:lnSpc>
                <a:spcPct val="90000"/>
              </a:lnSpc>
              <a:spcBef>
                <a:spcPts val="575"/>
              </a:spcBef>
              <a:spcAft>
                <a:spcPts val="0"/>
              </a:spcAft>
              <a:buClr>
                <a:schemeClr val="dk1"/>
              </a:buClr>
              <a:buSzPct val="100000"/>
              <a:buNone/>
            </a:pPr>
            <a:endParaRPr sz="18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5"/>
          <p:cNvSpPr txBox="1">
            <a:spLocks noGrp="1"/>
          </p:cNvSpPr>
          <p:nvPr>
            <p:ph type="title"/>
          </p:nvPr>
        </p:nvSpPr>
        <p:spPr>
          <a:xfrm>
            <a:off x="4536325" y="300984"/>
            <a:ext cx="2637473" cy="7694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200" b="1" dirty="0">
                <a:latin typeface="Times New Roman" panose="02020603050405020304" pitchFamily="18" charset="0"/>
                <a:cs typeface="Times New Roman" panose="02020603050405020304" pitchFamily="18" charset="0"/>
              </a:rPr>
              <a:t>Introduction</a:t>
            </a:r>
            <a:endParaRPr sz="3200" b="1"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16559F9B-7651-5638-6040-F496DEA39B7E}"/>
              </a:ext>
            </a:extLst>
          </p:cNvPr>
          <p:cNvSpPr>
            <a:spLocks noGrp="1" noChangeArrowheads="1"/>
          </p:cNvSpPr>
          <p:nvPr>
            <p:ph type="body" idx="1"/>
          </p:nvPr>
        </p:nvSpPr>
        <p:spPr bwMode="auto">
          <a:xfrm>
            <a:off x="839103" y="1070390"/>
            <a:ext cx="10306397"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buFont typeface="Arial" pitchFamily="34" charset="0"/>
              <a:buChar char="•"/>
            </a:pPr>
            <a:r>
              <a:rPr lang="en-US" sz="1800" dirty="0">
                <a:latin typeface="Times New Roman" pitchFamily="18" charset="0"/>
                <a:cs typeface="Times New Roman" pitchFamily="18" charset="0"/>
              </a:rPr>
              <a:t>This project focuses on developing an explainable deep learning system for medical image classification, aimed at identifying severe skin conditions such as gangrene, ulcer, and normal cases. Early and accurate detection of these conditions is critical, as delayed diagnosis can lead to serious complications including infection spread and tissue damage.</a:t>
            </a:r>
          </a:p>
          <a:p>
            <a:pPr algn="just">
              <a:lnSpc>
                <a:spcPct val="150000"/>
              </a:lnSpc>
              <a:buFont typeface="Arial" pitchFamily="34" charset="0"/>
              <a:buChar char="•"/>
            </a:pPr>
            <a:r>
              <a:rPr lang="en-US" sz="1800" dirty="0">
                <a:latin typeface="Times New Roman" pitchFamily="18" charset="0"/>
                <a:cs typeface="Times New Roman" pitchFamily="18" charset="0"/>
              </a:rPr>
              <a:t>Traditional diagnosis relies on visual examination, which may vary based on expertise and conditions. To address this limitation, advanced deep learning techniques are used to automate and improve classification accuracy.</a:t>
            </a:r>
          </a:p>
          <a:p>
            <a:pPr algn="just">
              <a:lnSpc>
                <a:spcPct val="150000"/>
              </a:lnSpc>
              <a:buFont typeface="Arial" pitchFamily="34" charset="0"/>
              <a:buChar char="•"/>
            </a:pPr>
            <a:r>
              <a:rPr lang="en-US" sz="1800" dirty="0">
                <a:latin typeface="Times New Roman" pitchFamily="18" charset="0"/>
                <a:cs typeface="Times New Roman" pitchFamily="18" charset="0"/>
              </a:rPr>
              <a:t>The proposed system utilizes the </a:t>
            </a:r>
            <a:r>
              <a:rPr lang="en-US" sz="1800" dirty="0" err="1">
                <a:latin typeface="Times New Roman" pitchFamily="18" charset="0"/>
                <a:cs typeface="Times New Roman" pitchFamily="18" charset="0"/>
              </a:rPr>
              <a:t>MaxViT</a:t>
            </a:r>
            <a:r>
              <a:rPr lang="en-US" sz="1800" dirty="0">
                <a:latin typeface="Times New Roman" pitchFamily="18" charset="0"/>
                <a:cs typeface="Times New Roman" pitchFamily="18" charset="0"/>
              </a:rPr>
              <a:t> (Multi-Axis Vision Transformer) architecture to capture both local and global image features, along with Grad-CAM++ for visual explanation of model decisions. This combination ensures not only high accuracy but also interpretability, making the system reliable for real-world clinical applications.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6"/>
          <p:cNvSpPr txBox="1">
            <a:spLocks noGrp="1"/>
          </p:cNvSpPr>
          <p:nvPr>
            <p:ph type="ctrTitle"/>
          </p:nvPr>
        </p:nvSpPr>
        <p:spPr>
          <a:xfrm>
            <a:off x="2871058" y="625645"/>
            <a:ext cx="6314037" cy="566158"/>
          </a:xfrm>
          <a:prstGeom prst="rect">
            <a:avLst/>
          </a:prstGeom>
          <a:noFill/>
          <a:ln>
            <a:noFill/>
          </a:ln>
        </p:spPr>
        <p:txBody>
          <a:bodyPr spcFirstLastPara="1" wrap="square" lIns="91425" tIns="45700" rIns="91425" bIns="45700" anchor="b" anchorCtr="0">
            <a:noAutofit/>
          </a:bodyPr>
          <a:lstStyle/>
          <a:p>
            <a:pPr marL="0" lvl="0" indent="0" rtl="0">
              <a:lnSpc>
                <a:spcPct val="90000"/>
              </a:lnSpc>
              <a:spcBef>
                <a:spcPts val="0"/>
              </a:spcBef>
              <a:spcAft>
                <a:spcPts val="0"/>
              </a:spcAft>
              <a:buClr>
                <a:schemeClr val="dk1"/>
              </a:buClr>
              <a:buSzPts val="3600"/>
              <a:buFont typeface="Times New Roman"/>
              <a:buNone/>
            </a:pPr>
            <a:r>
              <a:rPr lang="en-US" sz="3200" b="1" dirty="0">
                <a:latin typeface="Times New Roman"/>
                <a:ea typeface="Times New Roman"/>
                <a:cs typeface="Times New Roman"/>
                <a:sym typeface="Times New Roman"/>
              </a:rPr>
              <a:t>Problem Statement</a:t>
            </a:r>
            <a:endParaRPr lang="en-US" sz="3200" b="1" dirty="0"/>
          </a:p>
        </p:txBody>
      </p:sp>
      <p:sp>
        <p:nvSpPr>
          <p:cNvPr id="3" name="Subtitle 2">
            <a:extLst>
              <a:ext uri="{FF2B5EF4-FFF2-40B4-BE49-F238E27FC236}">
                <a16:creationId xmlns:a16="http://schemas.microsoft.com/office/drawing/2014/main" id="{23F61BDC-346E-E511-8E28-B3A41193E14A}"/>
              </a:ext>
            </a:extLst>
          </p:cNvPr>
          <p:cNvSpPr>
            <a:spLocks noGrp="1" noChangeArrowheads="1"/>
          </p:cNvSpPr>
          <p:nvPr>
            <p:ph type="subTitle" idx="1"/>
          </p:nvPr>
        </p:nvSpPr>
        <p:spPr bwMode="auto">
          <a:xfrm>
            <a:off x="815052" y="1320730"/>
            <a:ext cx="10426047"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buFont typeface="Arial" pitchFamily="34" charset="0"/>
              <a:buChar char="•"/>
            </a:pPr>
            <a:r>
              <a:rPr lang="en-US" sz="1800" dirty="0">
                <a:latin typeface="Times New Roman" pitchFamily="18" charset="0"/>
                <a:cs typeface="Times New Roman" pitchFamily="18" charset="0"/>
              </a:rPr>
              <a:t>Accurate and early detection of severe skin conditions such as gangrene and ulcers is critical for effective treatment and prevention of complications. However, current diagnosis mainly relies on manual visual examination, which is time-consuming, subjective, and dependent on clinical expertise. Variations in wound appearance, lighting conditions, and patient diversity further increase the chances of misclassification.</a:t>
            </a:r>
          </a:p>
          <a:p>
            <a:pPr algn="just">
              <a:lnSpc>
                <a:spcPct val="150000"/>
              </a:lnSpc>
              <a:buFont typeface="Arial" pitchFamily="34" charset="0"/>
              <a:buChar char="•"/>
            </a:pPr>
            <a:r>
              <a:rPr lang="en-US" sz="1800" dirty="0">
                <a:latin typeface="Times New Roman" pitchFamily="18" charset="0"/>
                <a:cs typeface="Times New Roman" pitchFamily="18" charset="0"/>
              </a:rPr>
              <a:t>Existing deep learning models improve accuracy but often function as black-box systems, providing predictions without clear explanations, which limits their adoption in clinical practice.</a:t>
            </a:r>
          </a:p>
          <a:p>
            <a:pPr algn="just">
              <a:lnSpc>
                <a:spcPct val="150000"/>
              </a:lnSpc>
              <a:buFont typeface="Arial" pitchFamily="34" charset="0"/>
              <a:buChar char="•"/>
            </a:pPr>
            <a:r>
              <a:rPr lang="en-US" sz="1800" dirty="0">
                <a:latin typeface="Times New Roman" pitchFamily="18" charset="0"/>
                <a:cs typeface="Times New Roman" pitchFamily="18" charset="0"/>
              </a:rPr>
              <a:t>Therefore, there is a need for a system that can accurately classify medical images while also providing interpretable and reliable explanations, ensuring both high performance and clinical trust.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7"/>
          <p:cNvSpPr txBox="1">
            <a:spLocks noGrp="1"/>
          </p:cNvSpPr>
          <p:nvPr>
            <p:ph type="title"/>
          </p:nvPr>
        </p:nvSpPr>
        <p:spPr>
          <a:xfrm>
            <a:off x="3644638" y="320512"/>
            <a:ext cx="4902724" cy="866529"/>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600"/>
              <a:buFont typeface="Times New Roman"/>
              <a:buNone/>
            </a:pPr>
            <a:r>
              <a:rPr lang="en-US" sz="3600" b="1" dirty="0">
                <a:latin typeface="Times New Roman"/>
                <a:ea typeface="Times New Roman"/>
                <a:cs typeface="Times New Roman"/>
                <a:sym typeface="Times New Roman"/>
              </a:rPr>
              <a:t>Objectives and Outcomes</a:t>
            </a:r>
            <a:endParaRPr b="1" dirty="0"/>
          </a:p>
        </p:txBody>
      </p:sp>
      <p:sp>
        <p:nvSpPr>
          <p:cNvPr id="196" name="Google Shape;196;p7"/>
          <p:cNvSpPr txBox="1">
            <a:spLocks noGrp="1"/>
          </p:cNvSpPr>
          <p:nvPr>
            <p:ph type="body" idx="1"/>
          </p:nvPr>
        </p:nvSpPr>
        <p:spPr>
          <a:xfrm>
            <a:off x="760488" y="1187041"/>
            <a:ext cx="10671024" cy="4991901"/>
          </a:xfrm>
          <a:prstGeom prst="rect">
            <a:avLst/>
          </a:prstGeom>
          <a:noFill/>
          <a:ln>
            <a:noFill/>
          </a:ln>
        </p:spPr>
        <p:txBody>
          <a:bodyPr spcFirstLastPara="1" wrap="square" lIns="91425" tIns="45700" rIns="91425" bIns="45700" anchor="t" anchorCtr="0">
            <a:normAutofit/>
          </a:bodyPr>
          <a:lstStyle/>
          <a:p>
            <a:pPr algn="just">
              <a:lnSpc>
                <a:spcPct val="150000"/>
              </a:lnSpc>
              <a:buNone/>
            </a:pPr>
            <a:r>
              <a:rPr lang="en-US" sz="1800" b="1" dirty="0">
                <a:latin typeface="Times New Roman" pitchFamily="18" charset="0"/>
                <a:cs typeface="Times New Roman" pitchFamily="18" charset="0"/>
              </a:rPr>
              <a:t>Objectives:</a:t>
            </a:r>
          </a:p>
          <a:p>
            <a:pPr algn="just">
              <a:lnSpc>
                <a:spcPct val="150000"/>
              </a:lnSpc>
            </a:pPr>
            <a:r>
              <a:rPr lang="en-US" sz="1800" dirty="0">
                <a:latin typeface="Times New Roman" pitchFamily="18" charset="0"/>
                <a:cs typeface="Times New Roman" pitchFamily="18" charset="0"/>
              </a:rPr>
              <a:t>To develop a deep learning model for accurate classification of medical images into gangrene, ulcer, and normal categories. </a:t>
            </a:r>
          </a:p>
          <a:p>
            <a:pPr algn="just">
              <a:lnSpc>
                <a:spcPct val="150000"/>
              </a:lnSpc>
            </a:pPr>
            <a:r>
              <a:rPr lang="en-US" sz="1800" dirty="0">
                <a:latin typeface="Times New Roman" pitchFamily="18" charset="0"/>
                <a:cs typeface="Times New Roman" pitchFamily="18" charset="0"/>
              </a:rPr>
              <a:t>To implement the </a:t>
            </a:r>
            <a:r>
              <a:rPr lang="en-US" sz="1800" dirty="0" err="1">
                <a:latin typeface="Times New Roman" pitchFamily="18" charset="0"/>
                <a:cs typeface="Times New Roman" pitchFamily="18" charset="0"/>
              </a:rPr>
              <a:t>MaxViT</a:t>
            </a:r>
            <a:r>
              <a:rPr lang="en-US" sz="1800" dirty="0">
                <a:latin typeface="Times New Roman" pitchFamily="18" charset="0"/>
                <a:cs typeface="Times New Roman" pitchFamily="18" charset="0"/>
              </a:rPr>
              <a:t> architecture for capturing both local and global image features effectively. </a:t>
            </a:r>
          </a:p>
          <a:p>
            <a:pPr algn="just">
              <a:lnSpc>
                <a:spcPct val="150000"/>
              </a:lnSpc>
            </a:pPr>
            <a:r>
              <a:rPr lang="en-US" sz="1800" dirty="0">
                <a:latin typeface="Times New Roman" pitchFamily="18" charset="0"/>
                <a:cs typeface="Times New Roman" pitchFamily="18" charset="0"/>
              </a:rPr>
              <a:t>To integrate Grad-CAM++ for generating visual explanations and improving model interpretability. </a:t>
            </a:r>
          </a:p>
          <a:p>
            <a:pPr algn="just">
              <a:lnSpc>
                <a:spcPct val="150000"/>
              </a:lnSpc>
              <a:buNone/>
            </a:pPr>
            <a:r>
              <a:rPr lang="en-US" sz="1800" b="1" dirty="0">
                <a:latin typeface="Times New Roman" pitchFamily="18" charset="0"/>
                <a:cs typeface="Times New Roman" pitchFamily="18" charset="0"/>
              </a:rPr>
              <a:t>Outcomes:</a:t>
            </a:r>
          </a:p>
          <a:p>
            <a:pPr algn="just">
              <a:lnSpc>
                <a:spcPct val="150000"/>
              </a:lnSpc>
            </a:pPr>
            <a:r>
              <a:rPr lang="en-US" sz="1800" dirty="0">
                <a:latin typeface="Times New Roman" pitchFamily="18" charset="0"/>
                <a:cs typeface="Times New Roman" pitchFamily="18" charset="0"/>
              </a:rPr>
              <a:t>Achieved high classification accuracy of 97.19% across all three classes. </a:t>
            </a:r>
          </a:p>
          <a:p>
            <a:pPr algn="just">
              <a:lnSpc>
                <a:spcPct val="150000"/>
              </a:lnSpc>
            </a:pPr>
            <a:r>
              <a:rPr lang="en-US" sz="1800" dirty="0">
                <a:latin typeface="Times New Roman" pitchFamily="18" charset="0"/>
                <a:cs typeface="Times New Roman" pitchFamily="18" charset="0"/>
              </a:rPr>
              <a:t>Developed a model with strong generalization capability on unseen medical images. </a:t>
            </a:r>
          </a:p>
          <a:p>
            <a:pPr algn="just">
              <a:lnSpc>
                <a:spcPct val="150000"/>
              </a:lnSpc>
            </a:pPr>
            <a:r>
              <a:rPr lang="en-US" sz="1800" dirty="0">
                <a:latin typeface="Times New Roman" pitchFamily="18" charset="0"/>
                <a:cs typeface="Times New Roman" pitchFamily="18" charset="0"/>
              </a:rPr>
              <a:t>Provided interpretable predictions using Grad-CAM++, increasing reliability and clinical trust.</a:t>
            </a:r>
          </a:p>
          <a:p>
            <a:pPr marL="0" lvl="0" indent="0" eaLnBrk="0" fontAlgn="base" hangingPunct="0">
              <a:lnSpc>
                <a:spcPct val="120000"/>
              </a:lnSpc>
              <a:spcBef>
                <a:spcPct val="0"/>
              </a:spcBef>
              <a:spcAft>
                <a:spcPct val="0"/>
              </a:spcAft>
              <a:buClrTx/>
              <a:buSzTx/>
              <a:buNone/>
            </a:pPr>
            <a:endParaRPr lang="en-US" altLang="en-US" sz="1800" dirty="0">
              <a:solidFill>
                <a:schemeClr val="tx1"/>
              </a:solidFill>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7D6DA-DA94-14B6-A67C-BAD603E6CD08}"/>
              </a:ext>
            </a:extLst>
          </p:cNvPr>
          <p:cNvSpPr>
            <a:spLocks noGrp="1"/>
          </p:cNvSpPr>
          <p:nvPr>
            <p:ph type="title"/>
          </p:nvPr>
        </p:nvSpPr>
        <p:spPr>
          <a:xfrm>
            <a:off x="3608971" y="91063"/>
            <a:ext cx="5327639" cy="568813"/>
          </a:xfrm>
        </p:spPr>
        <p:txBody>
          <a:bodyPr>
            <a:noAutofit/>
          </a:bodyPr>
          <a:lstStyle/>
          <a:p>
            <a:r>
              <a:rPr lang="en-IN" sz="3200" b="1" dirty="0">
                <a:latin typeface="Times New Roman" panose="02020603050405020304" pitchFamily="18" charset="0"/>
                <a:cs typeface="Times New Roman" panose="02020603050405020304" pitchFamily="18" charset="0"/>
              </a:rPr>
              <a:t>LITERATURE SUMMARY</a:t>
            </a:r>
          </a:p>
        </p:txBody>
      </p:sp>
      <p:graphicFrame>
        <p:nvGraphicFramePr>
          <p:cNvPr id="5" name="Content Placeholder 4">
            <a:extLst>
              <a:ext uri="{FF2B5EF4-FFF2-40B4-BE49-F238E27FC236}">
                <a16:creationId xmlns:a16="http://schemas.microsoft.com/office/drawing/2014/main" id="{A5CF9650-0B9C-6042-F7D6-CE7E952AC282}"/>
              </a:ext>
            </a:extLst>
          </p:cNvPr>
          <p:cNvGraphicFramePr>
            <a:graphicFrameLocks noGrp="1"/>
          </p:cNvGraphicFramePr>
          <p:nvPr>
            <p:ph idx="1"/>
            <p:extLst>
              <p:ext uri="{D42A27DB-BD31-4B8C-83A1-F6EECF244321}">
                <p14:modId xmlns:p14="http://schemas.microsoft.com/office/powerpoint/2010/main" val="573740147"/>
              </p:ext>
            </p:extLst>
          </p:nvPr>
        </p:nvGraphicFramePr>
        <p:xfrm>
          <a:off x="0" y="737419"/>
          <a:ext cx="12192000" cy="6120581"/>
        </p:xfrm>
        <a:graphic>
          <a:graphicData uri="http://schemas.openxmlformats.org/drawingml/2006/table">
            <a:tbl>
              <a:tblPr firstRow="1" bandRow="1">
                <a:tableStyleId>{5C22544A-7EE6-4342-B048-85BDC9FD1C3A}</a:tableStyleId>
              </a:tblPr>
              <a:tblGrid>
                <a:gridCol w="1706252">
                  <a:extLst>
                    <a:ext uri="{9D8B030D-6E8A-4147-A177-3AD203B41FA5}">
                      <a16:colId xmlns:a16="http://schemas.microsoft.com/office/drawing/2014/main" val="2752145091"/>
                    </a:ext>
                  </a:extLst>
                </a:gridCol>
                <a:gridCol w="638364">
                  <a:extLst>
                    <a:ext uri="{9D8B030D-6E8A-4147-A177-3AD203B41FA5}">
                      <a16:colId xmlns:a16="http://schemas.microsoft.com/office/drawing/2014/main" val="4065045024"/>
                    </a:ext>
                  </a:extLst>
                </a:gridCol>
                <a:gridCol w="3512138">
                  <a:extLst>
                    <a:ext uri="{9D8B030D-6E8A-4147-A177-3AD203B41FA5}">
                      <a16:colId xmlns:a16="http://schemas.microsoft.com/office/drawing/2014/main" val="3761872813"/>
                    </a:ext>
                  </a:extLst>
                </a:gridCol>
                <a:gridCol w="1789564">
                  <a:extLst>
                    <a:ext uri="{9D8B030D-6E8A-4147-A177-3AD203B41FA5}">
                      <a16:colId xmlns:a16="http://schemas.microsoft.com/office/drawing/2014/main" val="2215354653"/>
                    </a:ext>
                  </a:extLst>
                </a:gridCol>
                <a:gridCol w="1665155">
                  <a:extLst>
                    <a:ext uri="{9D8B030D-6E8A-4147-A177-3AD203B41FA5}">
                      <a16:colId xmlns:a16="http://schemas.microsoft.com/office/drawing/2014/main" val="1809248535"/>
                    </a:ext>
                  </a:extLst>
                </a:gridCol>
                <a:gridCol w="2880527">
                  <a:extLst>
                    <a:ext uri="{9D8B030D-6E8A-4147-A177-3AD203B41FA5}">
                      <a16:colId xmlns:a16="http://schemas.microsoft.com/office/drawing/2014/main" val="91705242"/>
                    </a:ext>
                  </a:extLst>
                </a:gridCol>
              </a:tblGrid>
              <a:tr h="676297">
                <a:tc>
                  <a:txBody>
                    <a:bodyPr/>
                    <a:lstStyle/>
                    <a:p>
                      <a:pPr algn="just"/>
                      <a:r>
                        <a:rPr lang="en-US" sz="1400" dirty="0">
                          <a:latin typeface="Times New Roman" panose="02020603050405020304" pitchFamily="18" charset="0"/>
                          <a:cs typeface="Times New Roman" panose="02020603050405020304" pitchFamily="18" charset="0"/>
                        </a:rPr>
                        <a:t>Title</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US" sz="1400" dirty="0">
                          <a:latin typeface="Times New Roman" panose="02020603050405020304" pitchFamily="18" charset="0"/>
                          <a:cs typeface="Times New Roman" panose="02020603050405020304" pitchFamily="18" charset="0"/>
                        </a:rPr>
                        <a:t>Year</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US" sz="1400" dirty="0">
                          <a:latin typeface="Times New Roman" panose="02020603050405020304" pitchFamily="18" charset="0"/>
                          <a:cs typeface="Times New Roman" panose="02020603050405020304" pitchFamily="18" charset="0"/>
                        </a:rPr>
                        <a:t>Description</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US" sz="1400" dirty="0">
                          <a:latin typeface="Times New Roman" panose="02020603050405020304" pitchFamily="18" charset="0"/>
                          <a:cs typeface="Times New Roman" panose="02020603050405020304" pitchFamily="18" charset="0"/>
                        </a:rPr>
                        <a:t>Dataset</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US" sz="1400" dirty="0">
                          <a:latin typeface="Times New Roman" panose="02020603050405020304" pitchFamily="18" charset="0"/>
                          <a:cs typeface="Times New Roman" panose="02020603050405020304" pitchFamily="18" charset="0"/>
                        </a:rPr>
                        <a:t>Algorithm</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US" sz="1400" dirty="0">
                          <a:latin typeface="Times New Roman" panose="02020603050405020304" pitchFamily="18" charset="0"/>
                          <a:cs typeface="Times New Roman" panose="02020603050405020304" pitchFamily="18" charset="0"/>
                        </a:rPr>
                        <a:t>Conclusion</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02727255"/>
                  </a:ext>
                </a:extLst>
              </a:tr>
              <a:tr h="2689634">
                <a:tc>
                  <a:txBody>
                    <a:bodyPr/>
                    <a:lstStyle/>
                    <a:p>
                      <a:pPr algn="just"/>
                      <a:r>
                        <a:rPr lang="en-US" dirty="0">
                          <a:latin typeface="Times New Roman" pitchFamily="18" charset="0"/>
                          <a:cs typeface="Times New Roman" pitchFamily="18" charset="0"/>
                        </a:rPr>
                        <a:t>Image-Based Gangrene Disease Classification</a:t>
                      </a:r>
                      <a:endParaRPr lang="en-IN" sz="1400" dirty="0">
                        <a:latin typeface="Times New Roman" pitchFamily="18" charset="0"/>
                        <a:cs typeface="Times New Roman" pitchFamily="18" charset="0"/>
                      </a:endParaRPr>
                    </a:p>
                  </a:txBody>
                  <a:tcPr/>
                </a:tc>
                <a:tc>
                  <a:txBody>
                    <a:bodyPr/>
                    <a:lstStyle/>
                    <a:p>
                      <a:pPr algn="just"/>
                      <a:r>
                        <a:rPr lang="en-US" sz="1400" b="0" dirty="0">
                          <a:latin typeface="Times New Roman" panose="02020603050405020304" pitchFamily="18" charset="0"/>
                          <a:cs typeface="Times New Roman" panose="02020603050405020304" pitchFamily="18" charset="0"/>
                        </a:rPr>
                        <a:t>2020</a:t>
                      </a:r>
                      <a:endParaRPr lang="en-IN" sz="1400" b="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latin typeface="Times New Roman" pitchFamily="18" charset="0"/>
                          <a:cs typeface="Times New Roman" pitchFamily="18" charset="0"/>
                        </a:rPr>
                        <a:t>This study focuses on early detection of gangrene using image-based analysis. It uses traditional machine learning techniques to identify visual patterns such as tissue discoloration, necrosis, and infection spread. The work highlights the importance of automation in reducing dependency on manual diagnosis.</a:t>
                      </a:r>
                      <a:endParaRPr lang="en-IN" sz="1400" b="0" dirty="0">
                        <a:latin typeface="Times New Roman" pitchFamily="18" charset="0"/>
                        <a:cs typeface="Times New Roman" pitchFamily="18" charset="0"/>
                      </a:endParaRPr>
                    </a:p>
                  </a:txBody>
                  <a:tcPr/>
                </a:tc>
                <a:tc>
                  <a:txBody>
                    <a:bodyPr/>
                    <a:lstStyle/>
                    <a:p>
                      <a:pPr algn="just"/>
                      <a:r>
                        <a:rPr lang="en-US" dirty="0">
                          <a:latin typeface="Times New Roman" pitchFamily="18" charset="0"/>
                          <a:cs typeface="Times New Roman" pitchFamily="18" charset="0"/>
                        </a:rPr>
                        <a:t>Medical images of gangrene cases</a:t>
                      </a:r>
                      <a:endParaRPr lang="en-IN" sz="1400" b="0" dirty="0">
                        <a:latin typeface="Times New Roman" pitchFamily="18" charset="0"/>
                        <a:cs typeface="Times New Roman" pitchFamily="18" charset="0"/>
                      </a:endParaRPr>
                    </a:p>
                  </a:txBody>
                  <a:tcPr/>
                </a:tc>
                <a:tc>
                  <a:txBody>
                    <a:bodyPr/>
                    <a:lstStyle/>
                    <a:p>
                      <a:pPr algn="just"/>
                      <a:r>
                        <a:rPr lang="en-US" dirty="0">
                          <a:latin typeface="Times New Roman" pitchFamily="18" charset="0"/>
                          <a:cs typeface="Times New Roman" pitchFamily="18" charset="0"/>
                        </a:rPr>
                        <a:t>Traditional ML (Feature extraction + classification)</a:t>
                      </a:r>
                      <a:endParaRPr lang="en-IN" sz="1400" b="0" dirty="0">
                        <a:latin typeface="Times New Roman" pitchFamily="18" charset="0"/>
                        <a:cs typeface="Times New Roman" pitchFamily="18" charset="0"/>
                      </a:endParaRPr>
                    </a:p>
                  </a:txBody>
                  <a:tcPr/>
                </a:tc>
                <a:tc>
                  <a:txBody>
                    <a:bodyPr/>
                    <a:lstStyle/>
                    <a:p>
                      <a:pPr algn="just"/>
                      <a:r>
                        <a:rPr lang="en-US" dirty="0">
                          <a:latin typeface="Times New Roman" pitchFamily="18" charset="0"/>
                          <a:cs typeface="Times New Roman" pitchFamily="18" charset="0"/>
                        </a:rPr>
                        <a:t>The study confirms that automated gangrene detection is feasible using image-based methods. However, traditional machine learning approaches struggle to handle variability in real-world data, highlighting the need for more advanced deep learning techniques for improved accuracy and robustness.</a:t>
                      </a:r>
                      <a:endParaRPr lang="en-US" sz="1400" dirty="0">
                        <a:latin typeface="Times New Roman" pitchFamily="18" charset="0"/>
                        <a:cs typeface="Times New Roman" pitchFamily="18" charset="0"/>
                      </a:endParaRPr>
                    </a:p>
                  </a:txBody>
                  <a:tcPr/>
                </a:tc>
                <a:extLst>
                  <a:ext uri="{0D108BD9-81ED-4DB2-BD59-A6C34878D82A}">
                    <a16:rowId xmlns:a16="http://schemas.microsoft.com/office/drawing/2014/main" val="1615987154"/>
                  </a:ext>
                </a:extLst>
              </a:tr>
              <a:tr h="2754650">
                <a:tc>
                  <a:txBody>
                    <a:bodyPr/>
                    <a:lstStyle/>
                    <a:p>
                      <a:pPr algn="l"/>
                      <a:r>
                        <a:rPr lang="en-US" dirty="0">
                          <a:latin typeface="Times New Roman" pitchFamily="18" charset="0"/>
                          <a:cs typeface="Times New Roman" pitchFamily="18" charset="0"/>
                        </a:rPr>
                        <a:t>Advances in Image-Based Diagnosis of Diabetic Foot Ulcers Using Deep Learning Techniques</a:t>
                      </a:r>
                      <a:endParaRPr lang="en-IN" sz="1400" dirty="0">
                        <a:latin typeface="Times New Roman" pitchFamily="18" charset="0"/>
                        <a:cs typeface="Times New Roman" pitchFamily="18" charset="0"/>
                      </a:endParaRPr>
                    </a:p>
                  </a:txBody>
                  <a:tcPr/>
                </a:tc>
                <a:tc>
                  <a:txBody>
                    <a:bodyPr/>
                    <a:lstStyle/>
                    <a:p>
                      <a:pPr algn="just"/>
                      <a:r>
                        <a:rPr lang="en-US" sz="1400" b="0" dirty="0">
                          <a:latin typeface="Times New Roman" panose="02020603050405020304" pitchFamily="18" charset="0"/>
                          <a:cs typeface="Times New Roman" panose="02020603050405020304" pitchFamily="18" charset="0"/>
                        </a:rPr>
                        <a:t>2025</a:t>
                      </a:r>
                      <a:endParaRPr lang="en-IN" sz="1400" b="0"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itchFamily="18" charset="0"/>
                          <a:cs typeface="Times New Roman" pitchFamily="18" charset="0"/>
                        </a:rPr>
                        <a:t>This paper provides a comprehensive review of CNN-based approaches for detecting and classifying diabetic foot ulcers. It discusses how deep learning models improve identification of ulcer severity and progression, while also addressing challenges such as dataset imbalance and variability in wound appearance.</a:t>
                      </a:r>
                      <a:endParaRPr lang="en-IN" sz="1400" b="0" dirty="0">
                        <a:latin typeface="Times New Roman" pitchFamily="18" charset="0"/>
                        <a:cs typeface="Times New Roman" pitchFamily="18" charset="0"/>
                      </a:endParaRPr>
                    </a:p>
                  </a:txBody>
                  <a:tcPr/>
                </a:tc>
                <a:tc>
                  <a:txBody>
                    <a:bodyPr/>
                    <a:lstStyle/>
                    <a:p>
                      <a:pPr algn="just"/>
                      <a:r>
                        <a:rPr lang="en-US" dirty="0">
                          <a:latin typeface="Times New Roman" pitchFamily="18" charset="0"/>
                          <a:cs typeface="Times New Roman" pitchFamily="18" charset="0"/>
                        </a:rPr>
                        <a:t>Diabetic foot ulcer image datasets</a:t>
                      </a:r>
                      <a:endParaRPr lang="en-IN" sz="1400" b="0" dirty="0">
                        <a:latin typeface="Times New Roman" pitchFamily="18" charset="0"/>
                        <a:cs typeface="Times New Roman" pitchFamily="18" charset="0"/>
                      </a:endParaRPr>
                    </a:p>
                  </a:txBody>
                  <a:tcPr/>
                </a:tc>
                <a:tc>
                  <a:txBody>
                    <a:bodyPr/>
                    <a:lstStyle/>
                    <a:p>
                      <a:pPr algn="just"/>
                      <a:r>
                        <a:rPr lang="en-US" dirty="0">
                          <a:latin typeface="Times New Roman" pitchFamily="18" charset="0"/>
                          <a:cs typeface="Times New Roman" pitchFamily="18" charset="0"/>
                        </a:rPr>
                        <a:t>CNN-based models</a:t>
                      </a:r>
                      <a:endParaRPr lang="en-US" sz="1400" b="0" dirty="0">
                        <a:latin typeface="Times New Roman" pitchFamily="18" charset="0"/>
                        <a:cs typeface="Times New Roman" pitchFamily="18" charset="0"/>
                      </a:endParaRPr>
                    </a:p>
                  </a:txBody>
                  <a:tcPr/>
                </a:tc>
                <a:tc>
                  <a:txBody>
                    <a:bodyPr/>
                    <a:lstStyle/>
                    <a:p>
                      <a:pPr algn="just"/>
                      <a:r>
                        <a:rPr lang="en-US" dirty="0">
                          <a:latin typeface="Times New Roman" pitchFamily="18" charset="0"/>
                          <a:cs typeface="Times New Roman" pitchFamily="18" charset="0"/>
                        </a:rPr>
                        <a:t>The study concludes that CNN-based deep learning models significantly outperform traditional approaches in ulcer detection tasks. However, limitations such as lack of interpretability, sensitivity to dataset imbalance, and inability to capture global context indicate the need for more advanced and explainable architectures.</a:t>
                      </a:r>
                      <a:r>
                        <a:rPr lang="en-IN" sz="1400" b="0" dirty="0">
                          <a:latin typeface="Times New Roman" pitchFamily="18" charset="0"/>
                          <a:cs typeface="Times New Roman" pitchFamily="18" charset="0"/>
                        </a:rPr>
                        <a:t>.</a:t>
                      </a:r>
                      <a:endParaRPr lang="en-US" sz="1400" dirty="0">
                        <a:latin typeface="Times New Roman" pitchFamily="18" charset="0"/>
                        <a:cs typeface="Times New Roman" pitchFamily="18" charset="0"/>
                      </a:endParaRPr>
                    </a:p>
                  </a:txBody>
                  <a:tcPr/>
                </a:tc>
                <a:extLst>
                  <a:ext uri="{0D108BD9-81ED-4DB2-BD59-A6C34878D82A}">
                    <a16:rowId xmlns:a16="http://schemas.microsoft.com/office/drawing/2014/main" val="3526722491"/>
                  </a:ext>
                </a:extLst>
              </a:tr>
            </a:tbl>
          </a:graphicData>
        </a:graphic>
      </p:graphicFrame>
    </p:spTree>
    <p:extLst>
      <p:ext uri="{BB962C8B-B14F-4D97-AF65-F5344CB8AC3E}">
        <p14:creationId xmlns:p14="http://schemas.microsoft.com/office/powerpoint/2010/main" val="2124270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4D953-C656-131A-957D-36462A41C538}"/>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E23EB285-F9DB-13DC-0C1A-59E89D333976}"/>
              </a:ext>
            </a:extLst>
          </p:cNvPr>
          <p:cNvGraphicFramePr>
            <a:graphicFrameLocks noGrp="1"/>
          </p:cNvGraphicFramePr>
          <p:nvPr>
            <p:ph idx="1"/>
            <p:extLst>
              <p:ext uri="{D42A27DB-BD31-4B8C-83A1-F6EECF244321}">
                <p14:modId xmlns:p14="http://schemas.microsoft.com/office/powerpoint/2010/main" val="710915691"/>
              </p:ext>
            </p:extLst>
          </p:nvPr>
        </p:nvGraphicFramePr>
        <p:xfrm>
          <a:off x="0" y="0"/>
          <a:ext cx="12192001" cy="4738836"/>
        </p:xfrm>
        <a:graphic>
          <a:graphicData uri="http://schemas.openxmlformats.org/drawingml/2006/table">
            <a:tbl>
              <a:tblPr firstRow="1" bandRow="1">
                <a:tableStyleId>{5C22544A-7EE6-4342-B048-85BDC9FD1C3A}</a:tableStyleId>
              </a:tblPr>
              <a:tblGrid>
                <a:gridCol w="1573654">
                  <a:extLst>
                    <a:ext uri="{9D8B030D-6E8A-4147-A177-3AD203B41FA5}">
                      <a16:colId xmlns:a16="http://schemas.microsoft.com/office/drawing/2014/main" val="2752145091"/>
                    </a:ext>
                  </a:extLst>
                </a:gridCol>
                <a:gridCol w="613365">
                  <a:extLst>
                    <a:ext uri="{9D8B030D-6E8A-4147-A177-3AD203B41FA5}">
                      <a16:colId xmlns:a16="http://schemas.microsoft.com/office/drawing/2014/main" val="4065045024"/>
                    </a:ext>
                  </a:extLst>
                </a:gridCol>
                <a:gridCol w="3431356">
                  <a:extLst>
                    <a:ext uri="{9D8B030D-6E8A-4147-A177-3AD203B41FA5}">
                      <a16:colId xmlns:a16="http://schemas.microsoft.com/office/drawing/2014/main" val="3761872813"/>
                    </a:ext>
                  </a:extLst>
                </a:gridCol>
                <a:gridCol w="1527143">
                  <a:extLst>
                    <a:ext uri="{9D8B030D-6E8A-4147-A177-3AD203B41FA5}">
                      <a16:colId xmlns:a16="http://schemas.microsoft.com/office/drawing/2014/main" val="2215354653"/>
                    </a:ext>
                  </a:extLst>
                </a:gridCol>
                <a:gridCol w="1545995">
                  <a:extLst>
                    <a:ext uri="{9D8B030D-6E8A-4147-A177-3AD203B41FA5}">
                      <a16:colId xmlns:a16="http://schemas.microsoft.com/office/drawing/2014/main" val="1809248535"/>
                    </a:ext>
                  </a:extLst>
                </a:gridCol>
                <a:gridCol w="3500488">
                  <a:extLst>
                    <a:ext uri="{9D8B030D-6E8A-4147-A177-3AD203B41FA5}">
                      <a16:colId xmlns:a16="http://schemas.microsoft.com/office/drawing/2014/main" val="91705242"/>
                    </a:ext>
                  </a:extLst>
                </a:gridCol>
              </a:tblGrid>
              <a:tr h="498697">
                <a:tc>
                  <a:txBody>
                    <a:bodyPr/>
                    <a:lstStyle/>
                    <a:p>
                      <a:pPr algn="ctr"/>
                      <a:r>
                        <a:rPr lang="en-US" sz="1400" dirty="0">
                          <a:latin typeface="Times New Roman" panose="02020603050405020304" pitchFamily="18" charset="0"/>
                          <a:cs typeface="Times New Roman" panose="02020603050405020304" pitchFamily="18" charset="0"/>
                        </a:rPr>
                        <a:t>Title</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Year</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Description</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Dataset</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Algorithm</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Conclusion</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02727255"/>
                  </a:ext>
                </a:extLst>
              </a:tr>
              <a:tr h="2129376">
                <a:tc>
                  <a:txBody>
                    <a:bodyPr/>
                    <a:lstStyle/>
                    <a:p>
                      <a:r>
                        <a:rPr lang="en-US" dirty="0">
                          <a:latin typeface="Times New Roman" pitchFamily="18" charset="0"/>
                          <a:cs typeface="Times New Roman" pitchFamily="18" charset="0"/>
                        </a:rPr>
                        <a:t>Enhanced Tuberculosis Detection using Vision Transformers and Grad-CAM</a:t>
                      </a:r>
                      <a:endParaRPr lang="en-IN" sz="1400" b="0" dirty="0">
                        <a:latin typeface="Times New Roman" pitchFamily="18" charset="0"/>
                        <a:cs typeface="Times New Roman" pitchFamily="18" charset="0"/>
                      </a:endParaRPr>
                    </a:p>
                  </a:txBody>
                  <a:tcPr/>
                </a:tc>
                <a:tc>
                  <a:txBody>
                    <a:bodyPr/>
                    <a:lstStyle/>
                    <a:p>
                      <a:pPr algn="l"/>
                      <a:r>
                        <a:rPr lang="en-US" sz="1400" b="0" dirty="0">
                          <a:latin typeface="Times New Roman" panose="02020603050405020304" pitchFamily="18" charset="0"/>
                          <a:cs typeface="Times New Roman" panose="02020603050405020304" pitchFamily="18" charset="0"/>
                        </a:rPr>
                        <a:t>2025</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a:endParaRPr lang="en-US" dirty="0">
                        <a:latin typeface="Times New Roman" pitchFamily="18" charset="0"/>
                        <a:cs typeface="Times New Roman" pitchFamily="18" charset="0"/>
                      </a:endParaRPr>
                    </a:p>
                  </a:txBody>
                  <a:tcPr anchor="ctr"/>
                </a:tc>
                <a:tc>
                  <a:txBody>
                    <a:bodyPr/>
                    <a:lstStyle/>
                    <a:p>
                      <a:r>
                        <a:rPr lang="en-US" dirty="0">
                          <a:latin typeface="Times New Roman" pitchFamily="18" charset="0"/>
                          <a:cs typeface="Times New Roman" pitchFamily="18" charset="0"/>
                        </a:rPr>
                        <a:t>Chest X-ray dataset</a:t>
                      </a:r>
                      <a:endParaRPr lang="en-IN" sz="1400" b="0"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Vision Transformer + Grad-CAM</a:t>
                      </a:r>
                      <a:endParaRPr lang="en-US" sz="1400" b="1" dirty="0">
                        <a:latin typeface="Times New Roman" pitchFamily="18" charset="0"/>
                        <a:cs typeface="Times New Roman" pitchFamily="18" charset="0"/>
                      </a:endParaRPr>
                    </a:p>
                  </a:txBody>
                  <a:tcPr/>
                </a:tc>
                <a:tc>
                  <a:txBody>
                    <a:bodyPr/>
                    <a:lstStyle/>
                    <a:p>
                      <a:pPr algn="just"/>
                      <a:r>
                        <a:rPr lang="en-US" dirty="0">
                          <a:latin typeface="Times New Roman" pitchFamily="18" charset="0"/>
                          <a:cs typeface="Times New Roman" pitchFamily="18" charset="0"/>
                        </a:rPr>
                        <a:t>The results show that Vision Transformers achieve higher accuracy compared to CNNs by effectively capturing global relationships in images. Additionally, the use of Grad-CAM improves interpretability. However, the approach requires large datasets and high computational resources, which may limit practical deployment.</a:t>
                      </a:r>
                      <a:endParaRPr lang="en-US" sz="1400" dirty="0">
                        <a:latin typeface="Times New Roman" pitchFamily="18" charset="0"/>
                        <a:cs typeface="Times New Roman" pitchFamily="18" charset="0"/>
                      </a:endParaRPr>
                    </a:p>
                  </a:txBody>
                  <a:tcPr/>
                </a:tc>
                <a:extLst>
                  <a:ext uri="{0D108BD9-81ED-4DB2-BD59-A6C34878D82A}">
                    <a16:rowId xmlns:a16="http://schemas.microsoft.com/office/drawing/2014/main" val="1615987154"/>
                  </a:ext>
                </a:extLst>
              </a:tr>
              <a:tr h="2110763">
                <a:tc>
                  <a:txBody>
                    <a:bodyPr/>
                    <a:lstStyle/>
                    <a:p>
                      <a:r>
                        <a:rPr lang="en-US" dirty="0">
                          <a:latin typeface="Times New Roman" pitchFamily="18" charset="0"/>
                          <a:cs typeface="Times New Roman" pitchFamily="18" charset="0"/>
                        </a:rPr>
                        <a:t>Explainable Deep Learning Framework for Diabetic Foot Ulcer Classification Using Grad-CAM</a:t>
                      </a:r>
                      <a:endParaRPr lang="en-IN" sz="1400" b="0" dirty="0">
                        <a:latin typeface="Times New Roman" pitchFamily="18" charset="0"/>
                        <a:cs typeface="Times New Roman" pitchFamily="18" charset="0"/>
                      </a:endParaRPr>
                    </a:p>
                  </a:txBody>
                  <a:tcPr/>
                </a:tc>
                <a:tc>
                  <a:txBody>
                    <a:bodyPr/>
                    <a:lstStyle/>
                    <a:p>
                      <a:r>
                        <a:rPr lang="en-US" sz="1400" b="0" dirty="0">
                          <a:latin typeface="Times New Roman" panose="02020603050405020304" pitchFamily="18" charset="0"/>
                          <a:cs typeface="Times New Roman" panose="02020603050405020304" pitchFamily="18" charset="0"/>
                        </a:rPr>
                        <a:t> 2025</a:t>
                      </a:r>
                      <a:endParaRPr lang="en-IN" sz="1400" b="0"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itchFamily="18" charset="0"/>
                          <a:cs typeface="Times New Roman" pitchFamily="18" charset="0"/>
                        </a:rPr>
                        <a:t>This work develops an explainable deep learning framework using CNNs combined with Grad-CAM visualization. The model highlights important regions in ulcer images, helping clinicians understand the basis of predictions and improving transparency in decision-making.</a:t>
                      </a:r>
                      <a:endParaRPr lang="en-IN" sz="1400" b="0"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Ulcer image dataset</a:t>
                      </a:r>
                      <a:endParaRPr lang="en-US" sz="1400"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CNN + Grad-CAM</a:t>
                      </a:r>
                      <a:endParaRPr lang="en-IN" sz="1400" b="0" dirty="0">
                        <a:latin typeface="Times New Roman" pitchFamily="18" charset="0"/>
                        <a:cs typeface="Times New Roman" pitchFamily="18" charset="0"/>
                      </a:endParaRPr>
                    </a:p>
                  </a:txBody>
                  <a:tcPr/>
                </a:tc>
                <a:tc>
                  <a:txBody>
                    <a:bodyPr/>
                    <a:lstStyle/>
                    <a:p>
                      <a:pPr algn="just"/>
                      <a:r>
                        <a:rPr lang="en-US" dirty="0">
                          <a:latin typeface="Times New Roman" pitchFamily="18" charset="0"/>
                          <a:cs typeface="Times New Roman" pitchFamily="18" charset="0"/>
                        </a:rPr>
                        <a:t>The study demonstrates that integrating </a:t>
                      </a:r>
                      <a:r>
                        <a:rPr lang="en-US" dirty="0" err="1">
                          <a:latin typeface="Times New Roman" pitchFamily="18" charset="0"/>
                          <a:cs typeface="Times New Roman" pitchFamily="18" charset="0"/>
                        </a:rPr>
                        <a:t>explainability</a:t>
                      </a:r>
                      <a:r>
                        <a:rPr lang="en-US" dirty="0">
                          <a:latin typeface="Times New Roman" pitchFamily="18" charset="0"/>
                          <a:cs typeface="Times New Roman" pitchFamily="18" charset="0"/>
                        </a:rPr>
                        <a:t> techniques like Grad-CAM improves transparency and trust in model predictions. However, the reliance on CNN architecture limits performance in complex cases, suggesting the need for more advanced models that can capture both local and global features.</a:t>
                      </a:r>
                    </a:p>
                  </a:txBody>
                  <a:tcPr anchor="ctr"/>
                </a:tc>
                <a:extLst>
                  <a:ext uri="{0D108BD9-81ED-4DB2-BD59-A6C34878D82A}">
                    <a16:rowId xmlns:a16="http://schemas.microsoft.com/office/drawing/2014/main" val="3526722491"/>
                  </a:ext>
                </a:extLst>
              </a:tr>
            </a:tbl>
          </a:graphicData>
        </a:graphic>
      </p:graphicFrame>
      <p:graphicFrame>
        <p:nvGraphicFramePr>
          <p:cNvPr id="2" name="Table 1">
            <a:extLst>
              <a:ext uri="{FF2B5EF4-FFF2-40B4-BE49-F238E27FC236}">
                <a16:creationId xmlns:a16="http://schemas.microsoft.com/office/drawing/2014/main" id="{D9C70B42-355F-60B0-96DC-28FB52166C18}"/>
              </a:ext>
            </a:extLst>
          </p:cNvPr>
          <p:cNvGraphicFramePr>
            <a:graphicFrameLocks noGrp="1"/>
          </p:cNvGraphicFramePr>
          <p:nvPr>
            <p:extLst>
              <p:ext uri="{D42A27DB-BD31-4B8C-83A1-F6EECF244321}">
                <p14:modId xmlns:p14="http://schemas.microsoft.com/office/powerpoint/2010/main" val="2608597319"/>
              </p:ext>
            </p:extLst>
          </p:nvPr>
        </p:nvGraphicFramePr>
        <p:xfrm>
          <a:off x="0" y="4738836"/>
          <a:ext cx="12192000" cy="2119164"/>
        </p:xfrm>
        <a:graphic>
          <a:graphicData uri="http://schemas.openxmlformats.org/drawingml/2006/table">
            <a:tbl>
              <a:tblPr bandRow="1">
                <a:tableStyleId>{D7D81E50-ACCD-4A89-8FA9-C32B3194FDB5}</a:tableStyleId>
              </a:tblPr>
              <a:tblGrid>
                <a:gridCol w="1574276">
                  <a:extLst>
                    <a:ext uri="{9D8B030D-6E8A-4147-A177-3AD203B41FA5}">
                      <a16:colId xmlns:a16="http://schemas.microsoft.com/office/drawing/2014/main" val="308719249"/>
                    </a:ext>
                  </a:extLst>
                </a:gridCol>
                <a:gridCol w="612743">
                  <a:extLst>
                    <a:ext uri="{9D8B030D-6E8A-4147-A177-3AD203B41FA5}">
                      <a16:colId xmlns:a16="http://schemas.microsoft.com/office/drawing/2014/main" val="3716688097"/>
                    </a:ext>
                  </a:extLst>
                </a:gridCol>
                <a:gridCol w="3431356">
                  <a:extLst>
                    <a:ext uri="{9D8B030D-6E8A-4147-A177-3AD203B41FA5}">
                      <a16:colId xmlns:a16="http://schemas.microsoft.com/office/drawing/2014/main" val="1350002207"/>
                    </a:ext>
                  </a:extLst>
                </a:gridCol>
                <a:gridCol w="1536569">
                  <a:extLst>
                    <a:ext uri="{9D8B030D-6E8A-4147-A177-3AD203B41FA5}">
                      <a16:colId xmlns:a16="http://schemas.microsoft.com/office/drawing/2014/main" val="879897908"/>
                    </a:ext>
                  </a:extLst>
                </a:gridCol>
                <a:gridCol w="1536569">
                  <a:extLst>
                    <a:ext uri="{9D8B030D-6E8A-4147-A177-3AD203B41FA5}">
                      <a16:colId xmlns:a16="http://schemas.microsoft.com/office/drawing/2014/main" val="2467567910"/>
                    </a:ext>
                  </a:extLst>
                </a:gridCol>
                <a:gridCol w="3500487">
                  <a:extLst>
                    <a:ext uri="{9D8B030D-6E8A-4147-A177-3AD203B41FA5}">
                      <a16:colId xmlns:a16="http://schemas.microsoft.com/office/drawing/2014/main" val="941287771"/>
                    </a:ext>
                  </a:extLst>
                </a:gridCol>
              </a:tblGrid>
              <a:tr h="2119164">
                <a:tc>
                  <a:txBody>
                    <a:bodyPr/>
                    <a:lstStyle/>
                    <a:p>
                      <a:r>
                        <a:rPr lang="en-US" dirty="0">
                          <a:latin typeface="Times New Roman" pitchFamily="18" charset="0"/>
                          <a:cs typeface="Times New Roman" pitchFamily="18" charset="0"/>
                        </a:rPr>
                        <a:t>Mulberry Leaf Disease Detection by CNN-</a:t>
                      </a:r>
                      <a:r>
                        <a:rPr lang="en-US" dirty="0" err="1">
                          <a:latin typeface="Times New Roman" pitchFamily="18" charset="0"/>
                          <a:cs typeface="Times New Roman" pitchFamily="18" charset="0"/>
                        </a:rPr>
                        <a:t>ViT</a:t>
                      </a:r>
                      <a:r>
                        <a:rPr lang="en-US" dirty="0">
                          <a:latin typeface="Times New Roman" pitchFamily="18" charset="0"/>
                          <a:cs typeface="Times New Roman" pitchFamily="18" charset="0"/>
                        </a:rPr>
                        <a:t> with XAI Integration</a:t>
                      </a:r>
                      <a:endParaRPr lang="en-IN" dirty="0">
                        <a:latin typeface="Times New Roman" pitchFamily="18" charset="0"/>
                        <a:cs typeface="Times New Roman"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2025</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itchFamily="18" charset="0"/>
                          <a:cs typeface="Times New Roman" pitchFamily="18" charset="0"/>
                        </a:rPr>
                        <a:t>This study proposes a hybrid CNN-</a:t>
                      </a:r>
                      <a:r>
                        <a:rPr lang="en-US" dirty="0" err="1">
                          <a:latin typeface="Times New Roman" pitchFamily="18" charset="0"/>
                          <a:cs typeface="Times New Roman" pitchFamily="18" charset="0"/>
                        </a:rPr>
                        <a:t>ViT</a:t>
                      </a:r>
                      <a:r>
                        <a:rPr lang="en-US" dirty="0">
                          <a:latin typeface="Times New Roman" pitchFamily="18" charset="0"/>
                          <a:cs typeface="Times New Roman" pitchFamily="18" charset="0"/>
                        </a:rPr>
                        <a:t> model that combines local feature extraction with global attention mechanisms for disease classification. Explainable AI techniques are integrated to visualize important regions, demonstrating improved performance in complex classification tasks.</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Plant disease image dataset</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CNN + Vision Transformer + XAI</a:t>
                      </a:r>
                      <a:endParaRPr lang="en-IN" dirty="0">
                        <a:latin typeface="Times New Roman" pitchFamily="18" charset="0"/>
                        <a:cs typeface="Times New Roman" pitchFamily="18" charset="0"/>
                      </a:endParaRPr>
                    </a:p>
                  </a:txBody>
                  <a:tcPr/>
                </a:tc>
                <a:tc>
                  <a:txBody>
                    <a:bodyPr/>
                    <a:lstStyle/>
                    <a:p>
                      <a:pPr algn="just"/>
                      <a:r>
                        <a:rPr lang="en-US" dirty="0">
                          <a:latin typeface="Times New Roman" pitchFamily="18" charset="0"/>
                          <a:cs typeface="Times New Roman" pitchFamily="18" charset="0"/>
                        </a:rPr>
                        <a:t>The study concludes that hybrid models combining CNN and Vision Transformer architectures provide improved classification performance by capturing both local and global features. The integration of explainable AI further enhances model transparency, making such approaches highly suitable for complex image classification tasks.</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2177777527"/>
                  </a:ext>
                </a:extLst>
              </a:tr>
            </a:tbl>
          </a:graphicData>
        </a:graphic>
      </p:graphicFrame>
      <p:sp>
        <p:nvSpPr>
          <p:cNvPr id="3" name="TextBox 2">
            <a:extLst>
              <a:ext uri="{FF2B5EF4-FFF2-40B4-BE49-F238E27FC236}">
                <a16:creationId xmlns:a16="http://schemas.microsoft.com/office/drawing/2014/main" id="{101FCACB-C8B0-11CC-6F75-454604D4FD46}"/>
              </a:ext>
            </a:extLst>
          </p:cNvPr>
          <p:cNvSpPr txBox="1"/>
          <p:nvPr/>
        </p:nvSpPr>
        <p:spPr>
          <a:xfrm>
            <a:off x="2271859" y="532464"/>
            <a:ext cx="3223967" cy="2031325"/>
          </a:xfrm>
          <a:prstGeom prst="rect">
            <a:avLst/>
          </a:prstGeom>
          <a:noFill/>
        </p:spPr>
        <p:txBody>
          <a:bodyPr wrap="square" rtlCol="0">
            <a:spAutoFit/>
          </a:bodyPr>
          <a:lstStyle/>
          <a:p>
            <a:pPr algn="just"/>
            <a:r>
              <a:rPr lang="en-US" dirty="0">
                <a:latin typeface="Times New Roman" pitchFamily="18" charset="0"/>
                <a:cs typeface="Times New Roman" pitchFamily="18" charset="0"/>
              </a:rPr>
              <a:t>This study applies Vision Transformer models to detect tuberculosis from chest X-ray images. It integrates Grad-CAM for visual explanations, allowing identification of important regions influencing predictions. The approach demonstrates the advantage of transformers in capturing long-range dependencies in medical images.</a:t>
            </a:r>
          </a:p>
        </p:txBody>
      </p:sp>
    </p:spTree>
    <p:extLst>
      <p:ext uri="{BB962C8B-B14F-4D97-AF65-F5344CB8AC3E}">
        <p14:creationId xmlns:p14="http://schemas.microsoft.com/office/powerpoint/2010/main" val="1944274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0"/>
          <p:cNvSpPr txBox="1">
            <a:spLocks noGrp="1"/>
          </p:cNvSpPr>
          <p:nvPr>
            <p:ph type="title"/>
          </p:nvPr>
        </p:nvSpPr>
        <p:spPr>
          <a:xfrm>
            <a:off x="2524479" y="259419"/>
            <a:ext cx="7143035" cy="78224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200" b="1" dirty="0">
                <a:latin typeface="Times New Roman"/>
                <a:ea typeface="Times New Roman"/>
                <a:cs typeface="Times New Roman"/>
                <a:sym typeface="Times New Roman"/>
              </a:rPr>
              <a:t>Dataset and Requirements Specification</a:t>
            </a:r>
            <a:endParaRPr sz="3200" b="1" dirty="0"/>
          </a:p>
        </p:txBody>
      </p:sp>
      <p:sp>
        <p:nvSpPr>
          <p:cNvPr id="214" name="Google Shape;214;p10"/>
          <p:cNvSpPr txBox="1">
            <a:spLocks noGrp="1"/>
          </p:cNvSpPr>
          <p:nvPr>
            <p:ph type="body" idx="1"/>
          </p:nvPr>
        </p:nvSpPr>
        <p:spPr>
          <a:xfrm>
            <a:off x="482493" y="1300716"/>
            <a:ext cx="11227009" cy="4892694"/>
          </a:xfrm>
          <a:prstGeom prst="rect">
            <a:avLst/>
          </a:prstGeom>
          <a:noFill/>
          <a:ln>
            <a:noFill/>
          </a:ln>
        </p:spPr>
        <p:txBody>
          <a:bodyPr spcFirstLastPara="1" wrap="square" lIns="91425" tIns="45700" rIns="91425" bIns="45700" anchor="t" anchorCtr="0">
            <a:noAutofit/>
          </a:bodyPr>
          <a:lstStyle/>
          <a:p>
            <a:pPr algn="just">
              <a:lnSpc>
                <a:spcPct val="150000"/>
              </a:lnSpc>
              <a:buNone/>
            </a:pPr>
            <a:r>
              <a:rPr lang="en-US" sz="1800" b="1" dirty="0">
                <a:latin typeface="Times New Roman" pitchFamily="18" charset="0"/>
                <a:cs typeface="Times New Roman" pitchFamily="18" charset="0"/>
              </a:rPr>
              <a:t>Dataset:</a:t>
            </a:r>
          </a:p>
          <a:p>
            <a:pPr algn="just">
              <a:lnSpc>
                <a:spcPct val="150000"/>
              </a:lnSpc>
              <a:buFont typeface="Arial" pitchFamily="34" charset="0"/>
              <a:buChar char="•"/>
            </a:pPr>
            <a:r>
              <a:rPr lang="en-US" sz="1800" b="1" dirty="0">
                <a:latin typeface="Times New Roman" pitchFamily="18" charset="0"/>
                <a:cs typeface="Times New Roman" pitchFamily="18" charset="0"/>
              </a:rPr>
              <a:t>Source: </a:t>
            </a:r>
            <a:r>
              <a:rPr lang="en-US" sz="1800" dirty="0">
                <a:latin typeface="Times New Roman" pitchFamily="18" charset="0"/>
                <a:cs typeface="Times New Roman" pitchFamily="18" charset="0"/>
              </a:rPr>
              <a:t>Gangrene-v4 dataset from </a:t>
            </a:r>
            <a:r>
              <a:rPr lang="en-US" sz="1800" dirty="0" err="1">
                <a:latin typeface="Times New Roman" pitchFamily="18" charset="0"/>
                <a:cs typeface="Times New Roman" pitchFamily="18" charset="0"/>
              </a:rPr>
              <a:t>Roboflow</a:t>
            </a:r>
            <a:r>
              <a:rPr lang="en-US" sz="1800" dirty="0">
                <a:latin typeface="Times New Roman" pitchFamily="18" charset="0"/>
                <a:cs typeface="Times New Roman" pitchFamily="18" charset="0"/>
              </a:rPr>
              <a:t>.</a:t>
            </a:r>
          </a:p>
          <a:p>
            <a:pPr algn="just">
              <a:lnSpc>
                <a:spcPct val="150000"/>
              </a:lnSpc>
              <a:buFont typeface="Arial" pitchFamily="34" charset="0"/>
              <a:buChar char="•"/>
            </a:pPr>
            <a:r>
              <a:rPr lang="en-US" sz="1800" b="1" dirty="0">
                <a:latin typeface="Times New Roman" pitchFamily="18" charset="0"/>
                <a:cs typeface="Times New Roman" pitchFamily="18" charset="0"/>
              </a:rPr>
              <a:t>Total images: </a:t>
            </a:r>
            <a:r>
              <a:rPr lang="en-US" sz="1800" dirty="0">
                <a:latin typeface="Times New Roman" pitchFamily="18" charset="0"/>
                <a:cs typeface="Times New Roman" pitchFamily="18" charset="0"/>
              </a:rPr>
              <a:t>1653 color images (224×224px).</a:t>
            </a:r>
          </a:p>
          <a:p>
            <a:pPr algn="just">
              <a:lnSpc>
                <a:spcPct val="150000"/>
              </a:lnSpc>
              <a:buFont typeface="Arial" pitchFamily="34" charset="0"/>
              <a:buChar char="•"/>
            </a:pPr>
            <a:r>
              <a:rPr lang="en-US" sz="1800" b="1" dirty="0">
                <a:latin typeface="Times New Roman" pitchFamily="18" charset="0"/>
                <a:cs typeface="Times New Roman" pitchFamily="18" charset="0"/>
              </a:rPr>
              <a:t>Train/Val/Test Split: </a:t>
            </a:r>
            <a:r>
              <a:rPr lang="en-US" sz="1800" dirty="0">
                <a:latin typeface="Times New Roman" pitchFamily="18" charset="0"/>
                <a:cs typeface="Times New Roman" pitchFamily="18" charset="0"/>
              </a:rPr>
              <a:t>70% / 15% / 15%.</a:t>
            </a:r>
          </a:p>
          <a:p>
            <a:pPr algn="just">
              <a:lnSpc>
                <a:spcPct val="150000"/>
              </a:lnSpc>
              <a:buNone/>
            </a:pPr>
            <a:r>
              <a:rPr lang="en-US" sz="1800" b="1" dirty="0">
                <a:latin typeface="Times New Roman" pitchFamily="18" charset="0"/>
                <a:cs typeface="Times New Roman" pitchFamily="18" charset="0"/>
              </a:rPr>
              <a:t>Requirements:</a:t>
            </a:r>
          </a:p>
          <a:p>
            <a:pPr algn="just">
              <a:lnSpc>
                <a:spcPct val="150000"/>
              </a:lnSpc>
            </a:pPr>
            <a:r>
              <a:rPr lang="en-US" sz="1800" b="1" dirty="0">
                <a:latin typeface="Times New Roman" pitchFamily="18" charset="0"/>
                <a:cs typeface="Times New Roman" pitchFamily="18" charset="0"/>
              </a:rPr>
              <a:t>Software Requirements:</a:t>
            </a:r>
            <a:r>
              <a:rPr lang="en-US" sz="1800" dirty="0">
                <a:latin typeface="Times New Roman" pitchFamily="18" charset="0"/>
                <a:cs typeface="Times New Roman" pitchFamily="18" charset="0"/>
              </a:rPr>
              <a:t> Python with deep learning frameworks for model development and training. </a:t>
            </a:r>
          </a:p>
          <a:p>
            <a:pPr algn="just">
              <a:lnSpc>
                <a:spcPct val="150000"/>
              </a:lnSpc>
            </a:pPr>
            <a:r>
              <a:rPr lang="en-US" sz="1800" b="1" dirty="0">
                <a:latin typeface="Times New Roman" pitchFamily="18" charset="0"/>
                <a:cs typeface="Times New Roman" pitchFamily="18" charset="0"/>
              </a:rPr>
              <a:t>Hardware Requirements:</a:t>
            </a:r>
            <a:r>
              <a:rPr lang="en-US" sz="1800" dirty="0">
                <a:latin typeface="Times New Roman" pitchFamily="18" charset="0"/>
                <a:cs typeface="Times New Roman" pitchFamily="18" charset="0"/>
              </a:rPr>
              <a:t> GPU-enabled system (NVIDIA Tesla T4) with sufficient RAM and storage.</a:t>
            </a:r>
          </a:p>
          <a:p>
            <a:pPr algn="just">
              <a:lnSpc>
                <a:spcPct val="150000"/>
              </a:lnSpc>
            </a:pPr>
            <a:r>
              <a:rPr lang="en-US" sz="1800" b="1" dirty="0">
                <a:latin typeface="Times New Roman" pitchFamily="18" charset="0"/>
                <a:cs typeface="Times New Roman" pitchFamily="18" charset="0"/>
              </a:rPr>
              <a:t>Libraries:</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PyTorch</a:t>
            </a:r>
            <a:r>
              <a:rPr lang="en-US" sz="1800" dirty="0">
                <a:latin typeface="Times New Roman" pitchFamily="18" charset="0"/>
                <a:cs typeface="Times New Roman" pitchFamily="18" charset="0"/>
              </a:rPr>
              <a:t>/TensorFlow, OpenCV, NumPy, Pandas, Scikit-learn, Matplotlib, and Seaborn.</a:t>
            </a:r>
            <a:endParaRPr sz="1800" dirty="0">
              <a:latin typeface="Times New Roman" pitchFamily="18" charset="0"/>
              <a:ea typeface="Times New Roman"/>
              <a:cs typeface="Times New Roman" pitchFamily="18" charset="0"/>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2">
          <a:extLst>
            <a:ext uri="{FF2B5EF4-FFF2-40B4-BE49-F238E27FC236}">
              <a16:creationId xmlns:a16="http://schemas.microsoft.com/office/drawing/2014/main" id="{C00B7494-3F34-F098-A958-65722F5AAC3C}"/>
            </a:ext>
          </a:extLst>
        </p:cNvPr>
        <p:cNvGrpSpPr/>
        <p:nvPr/>
      </p:nvGrpSpPr>
      <p:grpSpPr>
        <a:xfrm>
          <a:off x="0" y="0"/>
          <a:ext cx="0" cy="0"/>
          <a:chOff x="0" y="0"/>
          <a:chExt cx="0" cy="0"/>
        </a:xfrm>
      </p:grpSpPr>
      <p:sp>
        <p:nvSpPr>
          <p:cNvPr id="213" name="Google Shape;213;p10">
            <a:extLst>
              <a:ext uri="{FF2B5EF4-FFF2-40B4-BE49-F238E27FC236}">
                <a16:creationId xmlns:a16="http://schemas.microsoft.com/office/drawing/2014/main" id="{B30C1AC0-54B7-FF0F-DF3B-C0125A1840F1}"/>
              </a:ext>
            </a:extLst>
          </p:cNvPr>
          <p:cNvSpPr txBox="1">
            <a:spLocks noGrp="1"/>
          </p:cNvSpPr>
          <p:nvPr>
            <p:ph type="title"/>
          </p:nvPr>
        </p:nvSpPr>
        <p:spPr>
          <a:xfrm>
            <a:off x="3481027" y="0"/>
            <a:ext cx="5229944" cy="72568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US" sz="3200" b="1" dirty="0">
                <a:latin typeface="Times New Roman"/>
                <a:ea typeface="Times New Roman"/>
                <a:cs typeface="Times New Roman"/>
                <a:sym typeface="Times New Roman"/>
              </a:rPr>
              <a:t>Algorithms</a:t>
            </a:r>
            <a:endParaRPr sz="3200" b="1" dirty="0"/>
          </a:p>
        </p:txBody>
      </p:sp>
      <mc:AlternateContent xmlns:mc="http://schemas.openxmlformats.org/markup-compatibility/2006" xmlns:a14="http://schemas.microsoft.com/office/drawing/2010/main">
        <mc:Choice Requires="a14">
          <p:sp>
            <p:nvSpPr>
              <p:cNvPr id="214" name="Google Shape;214;p10">
                <a:extLst>
                  <a:ext uri="{FF2B5EF4-FFF2-40B4-BE49-F238E27FC236}">
                    <a16:creationId xmlns:a16="http://schemas.microsoft.com/office/drawing/2014/main" id="{535EB68F-73A2-6CE1-E3F7-0C3199340334}"/>
                  </a:ext>
                </a:extLst>
              </p:cNvPr>
              <p:cNvSpPr txBox="1">
                <a:spLocks noGrp="1"/>
              </p:cNvSpPr>
              <p:nvPr>
                <p:ph type="body" idx="1"/>
              </p:nvPr>
            </p:nvSpPr>
            <p:spPr>
              <a:xfrm>
                <a:off x="694598" y="652713"/>
                <a:ext cx="11041774" cy="6205287"/>
              </a:xfrm>
              <a:prstGeom prst="rect">
                <a:avLst/>
              </a:prstGeom>
              <a:noFill/>
              <a:ln>
                <a:noFill/>
              </a:ln>
            </p:spPr>
            <p:txBody>
              <a:bodyPr spcFirstLastPara="1" wrap="square" lIns="91425" tIns="45700" rIns="91425" bIns="45700" anchor="t" anchorCtr="0">
                <a:noAutofit/>
              </a:bodyPr>
              <a:lstStyle/>
              <a:p>
                <a:pPr>
                  <a:buNone/>
                </a:pPr>
                <a:r>
                  <a:rPr lang="en-US" sz="1400" b="1" dirty="0">
                    <a:latin typeface="Times New Roman" pitchFamily="18" charset="0"/>
                    <a:cs typeface="Times New Roman" pitchFamily="18" charset="0"/>
                  </a:rPr>
                  <a:t>Algorithm 1: </a:t>
                </a:r>
                <a:r>
                  <a:rPr lang="en-IN" sz="1400" dirty="0" err="1">
                    <a:latin typeface="Times New Roman" pitchFamily="18" charset="0"/>
                    <a:cs typeface="Times New Roman" pitchFamily="18" charset="0"/>
                  </a:rPr>
                  <a:t>MaxViT</a:t>
                </a:r>
                <a:r>
                  <a:rPr lang="en-IN" sz="1400" dirty="0">
                    <a:latin typeface="Times New Roman" pitchFamily="18" charset="0"/>
                    <a:cs typeface="Times New Roman" pitchFamily="18" charset="0"/>
                  </a:rPr>
                  <a:t> (Multi-Axis Vision Transformer) for Image Classification</a:t>
                </a:r>
                <a:endParaRPr lang="en-US" sz="1400" dirty="0">
                  <a:latin typeface="Times New Roman" pitchFamily="18" charset="0"/>
                  <a:cs typeface="Times New Roman" pitchFamily="18" charset="0"/>
                </a:endParaRPr>
              </a:p>
              <a:p>
                <a:pPr>
                  <a:buNone/>
                </a:pPr>
                <a:r>
                  <a:rPr lang="en-US" sz="1400" b="1" dirty="0">
                    <a:latin typeface="Times New Roman" pitchFamily="18" charset="0"/>
                    <a:cs typeface="Times New Roman" pitchFamily="18" charset="0"/>
                  </a:rPr>
                  <a:t>Require: </a:t>
                </a:r>
                <a:r>
                  <a:rPr lang="en-IN" sz="1400" dirty="0">
                    <a:latin typeface="Times New Roman" pitchFamily="18" charset="0"/>
                    <a:cs typeface="Times New Roman" pitchFamily="18" charset="0"/>
                  </a:rPr>
                  <a:t>Input image dataset , labels (gangrene, ulcer, normal)</a:t>
                </a:r>
                <a:endParaRPr lang="en-US" sz="1400" dirty="0">
                  <a:latin typeface="Times New Roman" pitchFamily="18" charset="0"/>
                  <a:cs typeface="Times New Roman" pitchFamily="18" charset="0"/>
                </a:endParaRPr>
              </a:p>
              <a:p>
                <a:pPr>
                  <a:buNone/>
                </a:pPr>
                <a:r>
                  <a:rPr lang="en-US" sz="1400" b="1" dirty="0">
                    <a:latin typeface="Times New Roman" pitchFamily="18" charset="0"/>
                    <a:cs typeface="Times New Roman" pitchFamily="18" charset="0"/>
                  </a:rPr>
                  <a:t>Ensure: </a:t>
                </a:r>
                <a:r>
                  <a:rPr lang="en-IN" sz="1400" dirty="0">
                    <a:latin typeface="Times New Roman" pitchFamily="18" charset="0"/>
                    <a:cs typeface="Times New Roman" pitchFamily="18" charset="0"/>
                  </a:rPr>
                  <a:t>Predicted class probabilities</a:t>
                </a:r>
                <a:endParaRPr lang="en-US" sz="1400" dirty="0">
                  <a:latin typeface="Times New Roman" pitchFamily="18" charset="0"/>
                  <a:cs typeface="Times New Roman" pitchFamily="18" charset="0"/>
                </a:endParaRPr>
              </a:p>
              <a:p>
                <a:pPr lvl="0">
                  <a:buSzPct val="90000"/>
                  <a:buFont typeface="+mj-lt"/>
                  <a:buAutoNum type="arabicPeriod"/>
                </a:pPr>
                <a:r>
                  <a:rPr lang="en-IN" sz="1400" dirty="0">
                    <a:latin typeface="Times New Roman" pitchFamily="18" charset="0"/>
                    <a:cs typeface="Times New Roman" pitchFamily="18" charset="0"/>
                  </a:rPr>
                  <a:t>Input image </a:t>
                </a:r>
                <a:endParaRPr lang="en-US" sz="1400" dirty="0">
                  <a:latin typeface="Times New Roman" pitchFamily="18" charset="0"/>
                  <a:cs typeface="Times New Roman" pitchFamily="18" charset="0"/>
                </a:endParaRPr>
              </a:p>
              <a:p>
                <a:pPr lvl="0">
                  <a:buSzPct val="90000"/>
                  <a:buFont typeface="+mj-lt"/>
                  <a:buAutoNum type="arabicPeriod"/>
                </a:pPr>
                <a:r>
                  <a:rPr lang="en-IN" sz="1400" dirty="0">
                    <a:latin typeface="Times New Roman" pitchFamily="18" charset="0"/>
                    <a:cs typeface="Times New Roman" pitchFamily="18" charset="0"/>
                  </a:rPr>
                  <a:t>Resize image to fixed dimensions (e.g., 224 × 224) </a:t>
                </a:r>
                <a:endParaRPr lang="en-US" sz="1400" dirty="0">
                  <a:latin typeface="Times New Roman" pitchFamily="18" charset="0"/>
                  <a:cs typeface="Times New Roman" pitchFamily="18" charset="0"/>
                </a:endParaRPr>
              </a:p>
              <a:p>
                <a:pPr lvl="0">
                  <a:buSzPct val="90000"/>
                  <a:buFont typeface="+mj-lt"/>
                  <a:buAutoNum type="arabicPeriod"/>
                </a:pPr>
                <a:r>
                  <a:rPr lang="en-IN" sz="1400" dirty="0">
                    <a:latin typeface="Times New Roman" pitchFamily="18" charset="0"/>
                    <a:cs typeface="Times New Roman" pitchFamily="18" charset="0"/>
                  </a:rPr>
                  <a:t>Normalize pixel values to range [0, 1] </a:t>
                </a:r>
                <a:endParaRPr lang="en-US" sz="1400" dirty="0">
                  <a:latin typeface="Times New Roman" pitchFamily="18" charset="0"/>
                  <a:cs typeface="Times New Roman" pitchFamily="18" charset="0"/>
                </a:endParaRPr>
              </a:p>
              <a:p>
                <a:pPr lvl="0">
                  <a:buSzPct val="90000"/>
                  <a:buFont typeface="+mj-lt"/>
                  <a:buAutoNum type="arabicPeriod"/>
                </a:pPr>
                <a:r>
                  <a:rPr lang="en-IN" sz="1400" dirty="0">
                    <a:latin typeface="Times New Roman" pitchFamily="18" charset="0"/>
                    <a:cs typeface="Times New Roman" pitchFamily="18" charset="0"/>
                  </a:rPr>
                  <a:t>Pass image through initial </a:t>
                </a:r>
                <a:r>
                  <a:rPr lang="en-IN" sz="1400" dirty="0" err="1">
                    <a:latin typeface="Times New Roman" pitchFamily="18" charset="0"/>
                    <a:cs typeface="Times New Roman" pitchFamily="18" charset="0"/>
                  </a:rPr>
                  <a:t>convolutional</a:t>
                </a:r>
                <a:r>
                  <a:rPr lang="en-IN" sz="1400" dirty="0">
                    <a:latin typeface="Times New Roman" pitchFamily="18" charset="0"/>
                    <a:cs typeface="Times New Roman" pitchFamily="18" charset="0"/>
                  </a:rPr>
                  <a:t> stem to extract low-level features </a:t>
                </a:r>
                <a:endParaRPr lang="en-US" sz="1400" dirty="0">
                  <a:latin typeface="Times New Roman" pitchFamily="18" charset="0"/>
                  <a:cs typeface="Times New Roman" pitchFamily="18" charset="0"/>
                </a:endParaRPr>
              </a:p>
              <a:p>
                <a:pPr lvl="0">
                  <a:buSzPct val="90000"/>
                  <a:buFont typeface="+mj-lt"/>
                  <a:buAutoNum type="arabicPeriod"/>
                </a:pPr>
                <a:r>
                  <a:rPr lang="en-IN" sz="1400" dirty="0">
                    <a:latin typeface="Times New Roman" pitchFamily="18" charset="0"/>
                    <a:cs typeface="Times New Roman" pitchFamily="18" charset="0"/>
                  </a:rPr>
                  <a:t>Partition feature maps into non-overlapping blocks </a:t>
                </a:r>
                <a:endParaRPr lang="en-US" sz="1400" dirty="0">
                  <a:latin typeface="Times New Roman" pitchFamily="18" charset="0"/>
                  <a:cs typeface="Times New Roman" pitchFamily="18" charset="0"/>
                </a:endParaRPr>
              </a:p>
              <a:p>
                <a:pPr lvl="0">
                  <a:buSzPct val="90000"/>
                  <a:buFont typeface="+mj-lt"/>
                  <a:buAutoNum type="arabicPeriod"/>
                </a:pPr>
                <a:r>
                  <a:rPr lang="en-IN" sz="1400" dirty="0">
                    <a:latin typeface="Times New Roman" pitchFamily="18" charset="0"/>
                    <a:cs typeface="Times New Roman" pitchFamily="18" charset="0"/>
                  </a:rPr>
                  <a:t>Apply Block Attention (local attention within each block) </a:t>
                </a:r>
                <a:endParaRPr lang="en-US" sz="1400" dirty="0">
                  <a:latin typeface="Times New Roman" pitchFamily="18" charset="0"/>
                  <a:cs typeface="Times New Roman" pitchFamily="18" charset="0"/>
                </a:endParaRPr>
              </a:p>
              <a:p>
                <a:pPr lvl="0">
                  <a:buSzPct val="90000"/>
                  <a:buFont typeface="+mj-lt"/>
                  <a:buAutoNum type="arabicPeriod"/>
                </a:pPr>
                <a:r>
                  <a:rPr lang="en-IN" sz="1400" dirty="0">
                    <a:latin typeface="Times New Roman" pitchFamily="18" charset="0"/>
                    <a:cs typeface="Times New Roman" pitchFamily="18" charset="0"/>
                  </a:rPr>
                  <a:t>Apply Grid Attention (global attention across blocks along spatial axes) </a:t>
                </a:r>
                <a:endParaRPr lang="en-US" sz="1400" dirty="0">
                  <a:latin typeface="Times New Roman" pitchFamily="18" charset="0"/>
                  <a:cs typeface="Times New Roman" pitchFamily="18" charset="0"/>
                </a:endParaRPr>
              </a:p>
              <a:p>
                <a:pPr lvl="0">
                  <a:buSzPct val="90000"/>
                  <a:buFont typeface="+mj-lt"/>
                  <a:buAutoNum type="arabicPeriod"/>
                </a:pPr>
                <a:r>
                  <a:rPr lang="en-IN" sz="1400" dirty="0">
                    <a:latin typeface="Times New Roman" pitchFamily="18" charset="0"/>
                    <a:cs typeface="Times New Roman" pitchFamily="18" charset="0"/>
                  </a:rPr>
                  <a:t>Combine outputs of Block and Grid attention </a:t>
                </a:r>
                <a:endParaRPr lang="en-US" sz="1400" dirty="0">
                  <a:latin typeface="Times New Roman" pitchFamily="18" charset="0"/>
                  <a:cs typeface="Times New Roman" pitchFamily="18" charset="0"/>
                </a:endParaRPr>
              </a:p>
              <a:p>
                <a:pPr lvl="0">
                  <a:buSzPct val="90000"/>
                  <a:buFont typeface="+mj-lt"/>
                  <a:buAutoNum type="arabicPeriod"/>
                </a:pPr>
                <a:r>
                  <a:rPr lang="en-IN" sz="1400" dirty="0">
                    <a:latin typeface="Times New Roman" pitchFamily="18" charset="0"/>
                    <a:cs typeface="Times New Roman" pitchFamily="18" charset="0"/>
                  </a:rPr>
                  <a:t>Pass features through Feed Forward Network (FFN) with non-linear activation </a:t>
                </a:r>
                <a:endParaRPr lang="en-US" sz="1400" dirty="0">
                  <a:latin typeface="Times New Roman" pitchFamily="18" charset="0"/>
                  <a:cs typeface="Times New Roman" pitchFamily="18" charset="0"/>
                </a:endParaRPr>
              </a:p>
              <a:p>
                <a:pPr lvl="0">
                  <a:buSzPct val="90000"/>
                  <a:buFont typeface="+mj-lt"/>
                  <a:buAutoNum type="arabicPeriod"/>
                </a:pPr>
                <a:r>
                  <a:rPr lang="en-IN" sz="1400" dirty="0">
                    <a:latin typeface="Times New Roman" pitchFamily="18" charset="0"/>
                    <a:cs typeface="Times New Roman" pitchFamily="18" charset="0"/>
                  </a:rPr>
                  <a:t>Apply Layer Normalization and residual connections </a:t>
                </a:r>
                <a:endParaRPr lang="en-US" sz="1400" dirty="0">
                  <a:latin typeface="Times New Roman" pitchFamily="18" charset="0"/>
                  <a:cs typeface="Times New Roman" pitchFamily="18" charset="0"/>
                </a:endParaRPr>
              </a:p>
              <a:p>
                <a:pPr lvl="0">
                  <a:buSzPct val="90000"/>
                  <a:buFont typeface="+mj-lt"/>
                  <a:buAutoNum type="arabicPeriod"/>
                </a:pPr>
                <a:r>
                  <a:rPr lang="en-IN" sz="1400" dirty="0">
                    <a:latin typeface="Times New Roman" pitchFamily="18" charset="0"/>
                    <a:cs typeface="Times New Roman" pitchFamily="18" charset="0"/>
                  </a:rPr>
                  <a:t>Perform down sampling between stages to reduce spatial dimensions and increase feature depth </a:t>
                </a:r>
                <a:endParaRPr lang="en-US" sz="1400" dirty="0">
                  <a:latin typeface="Times New Roman" pitchFamily="18" charset="0"/>
                  <a:cs typeface="Times New Roman" pitchFamily="18" charset="0"/>
                </a:endParaRPr>
              </a:p>
              <a:p>
                <a:pPr lvl="0">
                  <a:buSzPct val="90000"/>
                  <a:buFont typeface="+mj-lt"/>
                  <a:buAutoNum type="arabicPeriod"/>
                </a:pPr>
                <a:r>
                  <a:rPr lang="en-IN" sz="1400" dirty="0">
                    <a:latin typeface="Times New Roman" pitchFamily="18" charset="0"/>
                    <a:cs typeface="Times New Roman" pitchFamily="18" charset="0"/>
                  </a:rPr>
                  <a:t>Repeat Steps 5–11 across multiple hierarchical stages</a:t>
                </a:r>
              </a:p>
              <a:p>
                <a:pPr lvl="0">
                  <a:buSzPct val="90000"/>
                  <a:buFont typeface="+mj-lt"/>
                  <a:buAutoNum type="arabicPeriod"/>
                </a:pPr>
                <a:r>
                  <a:rPr lang="en-IN" sz="1400" dirty="0">
                    <a:latin typeface="Times New Roman" pitchFamily="18" charset="0"/>
                    <a:cs typeface="Times New Roman" pitchFamily="18" charset="0"/>
                  </a:rPr>
                  <a:t>Apply global average pooling on final feature representation </a:t>
                </a:r>
                <a:endParaRPr lang="en-US" sz="1400" dirty="0">
                  <a:latin typeface="Times New Roman" pitchFamily="18" charset="0"/>
                  <a:cs typeface="Times New Roman" pitchFamily="18" charset="0"/>
                </a:endParaRPr>
              </a:p>
              <a:p>
                <a:pPr lvl="0">
                  <a:buSzPct val="90000"/>
                  <a:buFont typeface="+mj-lt"/>
                  <a:buAutoNum type="arabicPeriod"/>
                </a:pPr>
                <a:r>
                  <a:rPr lang="en-IN" sz="1400" dirty="0">
                    <a:latin typeface="Times New Roman" pitchFamily="18" charset="0"/>
                    <a:cs typeface="Times New Roman" pitchFamily="18" charset="0"/>
                  </a:rPr>
                  <a:t>Pass pooled features through fully connected layer </a:t>
                </a:r>
                <a:endParaRPr lang="en-US" sz="1400" dirty="0">
                  <a:latin typeface="Times New Roman" pitchFamily="18" charset="0"/>
                  <a:cs typeface="Times New Roman" pitchFamily="18" charset="0"/>
                </a:endParaRPr>
              </a:p>
              <a:p>
                <a:pPr lvl="0">
                  <a:buSzPct val="90000"/>
                  <a:buFont typeface="+mj-lt"/>
                  <a:buAutoNum type="arabicPeriod"/>
                </a:pPr>
                <a:r>
                  <a:rPr lang="en-IN" sz="1400" dirty="0">
                    <a:latin typeface="Times New Roman" pitchFamily="18" charset="0"/>
                    <a:cs typeface="Times New Roman" pitchFamily="18" charset="0"/>
                  </a:rPr>
                  <a:t>Compute output scores:</a:t>
                </a:r>
              </a:p>
              <a:p>
                <a:pPr marL="114300" lvl="0" indent="0">
                  <a:buNone/>
                </a:pPr>
                <a14:m>
                  <m:oMathPara xmlns:m="http://schemas.openxmlformats.org/officeDocument/2006/math">
                    <m:oMathParaPr>
                      <m:jc m:val="centerGroup"/>
                    </m:oMathParaPr>
                    <m:oMath xmlns:m="http://schemas.openxmlformats.org/officeDocument/2006/math">
                      <m:r>
                        <a:rPr lang="en-IN" sz="1400" i="1">
                          <a:latin typeface="Cambria Math" panose="02040503050406030204" pitchFamily="18" charset="0"/>
                        </a:rPr>
                        <m:t>𝑆</m:t>
                      </m:r>
                      <m:r>
                        <a:rPr lang="en-IN" sz="1400" i="1">
                          <a:latin typeface="Cambria Math" panose="02040503050406030204" pitchFamily="18" charset="0"/>
                        </a:rPr>
                        <m:t>=</m:t>
                      </m:r>
                      <m:r>
                        <a:rPr lang="en-IN" sz="1400" i="1">
                          <a:latin typeface="Cambria Math" panose="02040503050406030204" pitchFamily="18" charset="0"/>
                        </a:rPr>
                        <m:t>𝑊𝑍</m:t>
                      </m:r>
                      <m:r>
                        <a:rPr lang="en-IN" sz="1400" i="1">
                          <a:latin typeface="Cambria Math" panose="02040503050406030204" pitchFamily="18" charset="0"/>
                        </a:rPr>
                        <m:t>+</m:t>
                      </m:r>
                      <m:r>
                        <a:rPr lang="en-IN" sz="1400" i="1">
                          <a:latin typeface="Cambria Math" panose="02040503050406030204" pitchFamily="18" charset="0"/>
                        </a:rPr>
                        <m:t>𝑏</m:t>
                      </m:r>
                    </m:oMath>
                  </m:oMathPara>
                </a14:m>
                <a:endParaRPr lang="en-US" sz="1400" dirty="0">
                  <a:latin typeface="Times New Roman" pitchFamily="18" charset="0"/>
                  <a:cs typeface="Times New Roman" pitchFamily="18" charset="0"/>
                </a:endParaRPr>
              </a:p>
            </p:txBody>
          </p:sp>
        </mc:Choice>
        <mc:Fallback xmlns="">
          <p:sp>
            <p:nvSpPr>
              <p:cNvPr id="214" name="Google Shape;214;p10">
                <a:extLst>
                  <a:ext uri="{FF2B5EF4-FFF2-40B4-BE49-F238E27FC236}">
                    <a16:creationId xmlns:a16="http://schemas.microsoft.com/office/drawing/2014/main" id="{535EB68F-73A2-6CE1-E3F7-0C3199340334}"/>
                  </a:ext>
                </a:extLst>
              </p:cNvPr>
              <p:cNvSpPr txBox="1">
                <a:spLocks noGrp="1" noRot="1" noChangeAspect="1" noMove="1" noResize="1" noEditPoints="1" noAdjustHandles="1" noChangeArrowheads="1" noChangeShapeType="1" noTextEdit="1"/>
              </p:cNvSpPr>
              <p:nvPr>
                <p:ph type="body" idx="1"/>
              </p:nvPr>
            </p:nvSpPr>
            <p:spPr>
              <a:xfrm>
                <a:off x="694598" y="652713"/>
                <a:ext cx="11041774" cy="6205287"/>
              </a:xfrm>
              <a:prstGeom prst="rect">
                <a:avLst/>
              </a:prstGeom>
              <a:blipFill>
                <a:blip r:embed="rId3"/>
                <a:stretch>
                  <a:fillRect/>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10232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2">
          <a:extLst>
            <a:ext uri="{FF2B5EF4-FFF2-40B4-BE49-F238E27FC236}">
              <a16:creationId xmlns:a16="http://schemas.microsoft.com/office/drawing/2014/main" id="{0DA50051-15BE-9491-CA05-349CAB167B2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4" name="Google Shape;214;p10">
                <a:extLst>
                  <a:ext uri="{FF2B5EF4-FFF2-40B4-BE49-F238E27FC236}">
                    <a16:creationId xmlns:a16="http://schemas.microsoft.com/office/drawing/2014/main" id="{DBBBDF79-053D-A92B-707E-C3CD0B539C94}"/>
                  </a:ext>
                </a:extLst>
              </p:cNvPr>
              <p:cNvSpPr txBox="1">
                <a:spLocks noGrp="1"/>
              </p:cNvSpPr>
              <p:nvPr>
                <p:ph type="body" idx="1"/>
              </p:nvPr>
            </p:nvSpPr>
            <p:spPr>
              <a:xfrm>
                <a:off x="799000" y="240383"/>
                <a:ext cx="9023730" cy="6377234"/>
              </a:xfrm>
              <a:prstGeom prst="rect">
                <a:avLst/>
              </a:prstGeom>
              <a:noFill/>
              <a:ln>
                <a:noFill/>
              </a:ln>
            </p:spPr>
            <p:txBody>
              <a:bodyPr spcFirstLastPara="1" wrap="square" lIns="91425" tIns="45700" rIns="91425" bIns="45700" anchor="t" anchorCtr="0">
                <a:noAutofit/>
              </a:bodyPr>
              <a:lstStyle/>
              <a:p>
                <a:pPr lvl="0">
                  <a:buSzPct val="90000"/>
                  <a:buFont typeface="+mj-lt"/>
                  <a:buAutoNum type="arabicPeriod" startAt="16"/>
                </a:pPr>
                <a:r>
                  <a:rPr lang="en-IN" sz="1400" dirty="0">
                    <a:latin typeface="Times New Roman" pitchFamily="18" charset="0"/>
                    <a:cs typeface="Times New Roman" pitchFamily="18" charset="0"/>
                  </a:rPr>
                  <a:t>Apply </a:t>
                </a:r>
                <a:r>
                  <a:rPr lang="en-IN" sz="1400" dirty="0" err="1">
                    <a:latin typeface="Times New Roman" pitchFamily="18" charset="0"/>
                    <a:cs typeface="Times New Roman" pitchFamily="18" charset="0"/>
                  </a:rPr>
                  <a:t>Softmax</a:t>
                </a:r>
                <a:r>
                  <a:rPr lang="en-IN" sz="1400" dirty="0">
                    <a:latin typeface="Times New Roman" pitchFamily="18" charset="0"/>
                    <a:cs typeface="Times New Roman" pitchFamily="18" charset="0"/>
                  </a:rPr>
                  <a:t> function: </a:t>
                </a:r>
              </a:p>
              <a:p>
                <a:pPr marL="114300" indent="0">
                  <a:buSzPct val="90000"/>
                  <a:buNone/>
                </a:pPr>
                <a14:m>
                  <m:oMathPara xmlns:m="http://schemas.openxmlformats.org/officeDocument/2006/math">
                    <m:oMathParaPr>
                      <m:jc m:val="centerGroup"/>
                    </m:oMathParaPr>
                    <m:oMath xmlns:m="http://schemas.openxmlformats.org/officeDocument/2006/math">
                      <m:acc>
                        <m:accPr>
                          <m:chr m:val="̂"/>
                          <m:ctrlPr>
                            <a:rPr lang="en-IN" sz="1400" i="1">
                              <a:latin typeface="Cambria Math" panose="02040503050406030204" pitchFamily="18" charset="0"/>
                            </a:rPr>
                          </m:ctrlPr>
                        </m:accPr>
                        <m:e>
                          <m:r>
                            <a:rPr lang="en-IN" sz="1400" i="1">
                              <a:latin typeface="Cambria Math" panose="02040503050406030204" pitchFamily="18" charset="0"/>
                            </a:rPr>
                            <m:t>𝑌</m:t>
                          </m:r>
                        </m:e>
                      </m:acc>
                      <m:r>
                        <a:rPr lang="en-IN" sz="1400" i="1">
                          <a:latin typeface="Cambria Math" panose="02040503050406030204" pitchFamily="18" charset="0"/>
                        </a:rPr>
                        <m:t>=</m:t>
                      </m:r>
                      <m:r>
                        <m:rPr>
                          <m:nor/>
                        </m:rPr>
                        <a:rPr lang="en-IN" sz="1400"/>
                        <m:t>Softmax</m:t>
                      </m:r>
                      <m:r>
                        <a:rPr lang="en-IN" sz="1400" i="1">
                          <a:latin typeface="Cambria Math" panose="02040503050406030204" pitchFamily="18" charset="0"/>
                        </a:rPr>
                        <m:t>(</m:t>
                      </m:r>
                      <m:r>
                        <a:rPr lang="en-IN" sz="1400" i="1">
                          <a:latin typeface="Cambria Math" panose="02040503050406030204" pitchFamily="18" charset="0"/>
                        </a:rPr>
                        <m:t>𝑆</m:t>
                      </m:r>
                      <m:r>
                        <a:rPr lang="en-IN" sz="1400" i="1">
                          <a:latin typeface="Cambria Math" panose="02040503050406030204" pitchFamily="18" charset="0"/>
                        </a:rPr>
                        <m:t>)</m:t>
                      </m:r>
                    </m:oMath>
                  </m:oMathPara>
                </a14:m>
                <a:endParaRPr lang="en-US" sz="1400" dirty="0">
                  <a:latin typeface="Times New Roman" pitchFamily="18" charset="0"/>
                  <a:cs typeface="Times New Roman" pitchFamily="18" charset="0"/>
                </a:endParaRPr>
              </a:p>
              <a:p>
                <a:pPr lvl="0">
                  <a:buSzPct val="90000"/>
                  <a:buFont typeface="+mj-lt"/>
                  <a:buAutoNum type="arabicPeriod" startAt="17"/>
                </a:pPr>
                <a:r>
                  <a:rPr lang="en-IN" sz="1400" dirty="0">
                    <a:latin typeface="Times New Roman" pitchFamily="18" charset="0"/>
                    <a:cs typeface="Times New Roman" pitchFamily="18" charset="0"/>
                  </a:rPr>
                  <a:t>Assign predicted class based on maximum probability </a:t>
                </a:r>
                <a:endParaRPr lang="en-US" sz="1400" dirty="0">
                  <a:latin typeface="Times New Roman" pitchFamily="18" charset="0"/>
                  <a:cs typeface="Times New Roman" pitchFamily="18" charset="0"/>
                </a:endParaRPr>
              </a:p>
              <a:p>
                <a:pPr lvl="0">
                  <a:buSzPct val="90000"/>
                  <a:buFont typeface="+mj-lt"/>
                  <a:buAutoNum type="arabicPeriod" startAt="17"/>
                </a:pPr>
                <a:r>
                  <a:rPr lang="en-IN" sz="1400" dirty="0">
                    <a:latin typeface="Times New Roman" pitchFamily="18" charset="0"/>
                    <a:cs typeface="Times New Roman" pitchFamily="18" charset="0"/>
                  </a:rPr>
                  <a:t>Return predicted class probabilities </a:t>
                </a:r>
              </a:p>
              <a:p>
                <a:pPr lvl="0">
                  <a:buSzPct val="90000"/>
                  <a:buFont typeface="+mj-lt"/>
                  <a:buAutoNum type="arabicPeriod" startAt="17"/>
                </a:pPr>
                <a:endParaRPr lang="en-IN" sz="1800" b="1" dirty="0">
                  <a:latin typeface="Times New Roman" pitchFamily="18" charset="0"/>
                  <a:cs typeface="Times New Roman" pitchFamily="18" charset="0"/>
                </a:endParaRPr>
              </a:p>
              <a:p>
                <a:pPr>
                  <a:buNone/>
                </a:pPr>
                <a:r>
                  <a:rPr lang="en-IN" sz="1400" b="1" dirty="0">
                    <a:latin typeface="Times New Roman" pitchFamily="18" charset="0"/>
                    <a:cs typeface="Times New Roman" pitchFamily="18" charset="0"/>
                  </a:rPr>
                  <a:t>Algorithm 2: Grad-CAM++ for Visual Explanation</a:t>
                </a:r>
                <a:endParaRPr lang="en-US" sz="1400" dirty="0">
                  <a:latin typeface="Times New Roman" pitchFamily="18" charset="0"/>
                  <a:cs typeface="Times New Roman" pitchFamily="18" charset="0"/>
                </a:endParaRPr>
              </a:p>
              <a:p>
                <a:pPr>
                  <a:buNone/>
                </a:pPr>
                <a:r>
                  <a:rPr lang="en-IN" sz="1400" b="1" dirty="0">
                    <a:latin typeface="Times New Roman" pitchFamily="18" charset="0"/>
                    <a:cs typeface="Times New Roman" pitchFamily="18" charset="0"/>
                  </a:rPr>
                  <a:t>Require:</a:t>
                </a:r>
                <a:r>
                  <a:rPr lang="en-IN" sz="1400" dirty="0">
                    <a:latin typeface="Times New Roman" pitchFamily="18" charset="0"/>
                    <a:cs typeface="Times New Roman" pitchFamily="18" charset="0"/>
                  </a:rPr>
                  <a:t> Input image , trained model , target class </a:t>
                </a:r>
              </a:p>
              <a:p>
                <a:pPr>
                  <a:buNone/>
                </a:pPr>
                <a:r>
                  <a:rPr lang="en-IN" sz="1400" b="1" dirty="0">
                    <a:latin typeface="Times New Roman" pitchFamily="18" charset="0"/>
                    <a:cs typeface="Times New Roman" pitchFamily="18" charset="0"/>
                  </a:rPr>
                  <a:t>Ensure:</a:t>
                </a:r>
                <a:r>
                  <a:rPr lang="en-IN" sz="1400" dirty="0">
                    <a:latin typeface="Times New Roman" pitchFamily="18" charset="0"/>
                    <a:cs typeface="Times New Roman" pitchFamily="18" charset="0"/>
                  </a:rPr>
                  <a:t> Refined </a:t>
                </a:r>
                <a:r>
                  <a:rPr lang="en-IN" sz="1400" dirty="0" err="1">
                    <a:latin typeface="Times New Roman" pitchFamily="18" charset="0"/>
                    <a:cs typeface="Times New Roman" pitchFamily="18" charset="0"/>
                  </a:rPr>
                  <a:t>heatmap</a:t>
                </a:r>
                <a:r>
                  <a:rPr lang="en-IN" sz="1400" dirty="0">
                    <a:latin typeface="Times New Roman" pitchFamily="18" charset="0"/>
                    <a:cs typeface="Times New Roman" pitchFamily="18" charset="0"/>
                  </a:rPr>
                  <a:t> highlighting important regions</a:t>
                </a:r>
                <a:endParaRPr lang="en-US" sz="1400" dirty="0">
                  <a:latin typeface="Times New Roman" pitchFamily="18" charset="0"/>
                  <a:cs typeface="Times New Roman" pitchFamily="18" charset="0"/>
                </a:endParaRPr>
              </a:p>
              <a:p>
                <a:pPr lvl="0">
                  <a:buSzPct val="90000"/>
                  <a:buFont typeface="+mj-lt"/>
                  <a:buAutoNum type="arabicPeriod"/>
                </a:pPr>
                <a:r>
                  <a:rPr lang="en-IN" sz="1400" dirty="0">
                    <a:latin typeface="Times New Roman" pitchFamily="18" charset="0"/>
                    <a:cs typeface="Times New Roman" pitchFamily="18" charset="0"/>
                  </a:rPr>
                  <a:t>Input image to trained model </a:t>
                </a:r>
                <a:endParaRPr lang="en-US" sz="1400" dirty="0">
                  <a:latin typeface="Times New Roman" pitchFamily="18" charset="0"/>
                  <a:cs typeface="Times New Roman" pitchFamily="18" charset="0"/>
                </a:endParaRPr>
              </a:p>
              <a:p>
                <a:pPr lvl="0">
                  <a:buSzPct val="90000"/>
                  <a:buFont typeface="+mj-lt"/>
                  <a:buAutoNum type="arabicPeriod"/>
                </a:pPr>
                <a:r>
                  <a:rPr lang="en-IN" sz="1400" dirty="0">
                    <a:latin typeface="Times New Roman" pitchFamily="18" charset="0"/>
                    <a:cs typeface="Times New Roman" pitchFamily="18" charset="0"/>
                  </a:rPr>
                  <a:t>Perform forward pass to obtain class scores </a:t>
                </a:r>
                <a:endParaRPr lang="en-US" sz="1400" dirty="0">
                  <a:latin typeface="Times New Roman" pitchFamily="18" charset="0"/>
                  <a:cs typeface="Times New Roman" pitchFamily="18" charset="0"/>
                </a:endParaRPr>
              </a:p>
              <a:p>
                <a:pPr lvl="0">
                  <a:buSzPct val="90000"/>
                  <a:buFont typeface="+mj-lt"/>
                  <a:buAutoNum type="arabicPeriod"/>
                </a:pPr>
                <a:r>
                  <a:rPr lang="en-IN" sz="1400" dirty="0">
                    <a:latin typeface="Times New Roman" pitchFamily="18" charset="0"/>
                    <a:cs typeface="Times New Roman" pitchFamily="18" charset="0"/>
                  </a:rPr>
                  <a:t>Select target class score </a:t>
                </a:r>
                <a:endParaRPr lang="en-US" sz="1400" dirty="0">
                  <a:latin typeface="Times New Roman" pitchFamily="18" charset="0"/>
                  <a:cs typeface="Times New Roman" pitchFamily="18" charset="0"/>
                </a:endParaRPr>
              </a:p>
              <a:p>
                <a:pPr lvl="0">
                  <a:buSzPct val="90000"/>
                  <a:buFont typeface="+mj-lt"/>
                  <a:buAutoNum type="arabicPeriod"/>
                </a:pPr>
                <a:r>
                  <a:rPr lang="en-IN" sz="1400" dirty="0">
                    <a:latin typeface="Times New Roman" pitchFamily="18" charset="0"/>
                    <a:cs typeface="Times New Roman" pitchFamily="18" charset="0"/>
                  </a:rPr>
                  <a:t>Identify last </a:t>
                </a:r>
                <a:r>
                  <a:rPr lang="en-IN" sz="1400" dirty="0" err="1">
                    <a:latin typeface="Times New Roman" pitchFamily="18" charset="0"/>
                    <a:cs typeface="Times New Roman" pitchFamily="18" charset="0"/>
                  </a:rPr>
                  <a:t>convolutional</a:t>
                </a:r>
                <a:r>
                  <a:rPr lang="en-IN" sz="1400" dirty="0">
                    <a:latin typeface="Times New Roman" pitchFamily="18" charset="0"/>
                    <a:cs typeface="Times New Roman" pitchFamily="18" charset="0"/>
                  </a:rPr>
                  <a:t> layer feature maps </a:t>
                </a:r>
                <a:endParaRPr lang="en-US" sz="1400" dirty="0">
                  <a:latin typeface="Times New Roman" pitchFamily="18" charset="0"/>
                  <a:cs typeface="Times New Roman" pitchFamily="18" charset="0"/>
                </a:endParaRPr>
              </a:p>
              <a:p>
                <a:pPr lvl="0">
                  <a:buSzPct val="90000"/>
                  <a:buFont typeface="+mj-lt"/>
                  <a:buAutoNum type="arabicPeriod"/>
                </a:pPr>
                <a:r>
                  <a:rPr lang="en-IN" sz="1400" dirty="0">
                    <a:latin typeface="Times New Roman" pitchFamily="18" charset="0"/>
                    <a:cs typeface="Times New Roman" pitchFamily="18" charset="0"/>
                  </a:rPr>
                  <a:t>Compute first-order gradients:</a:t>
                </a:r>
              </a:p>
              <a:p>
                <a:pPr marL="114300" indent="0">
                  <a:buNone/>
                </a:pPr>
                <a14:m>
                  <m:oMathPara xmlns:m="http://schemas.openxmlformats.org/officeDocument/2006/math">
                    <m:oMathParaPr>
                      <m:jc m:val="centerGroup"/>
                    </m:oMathParaPr>
                    <m:oMath xmlns:m="http://schemas.openxmlformats.org/officeDocument/2006/math">
                      <m:f>
                        <m:fPr>
                          <m:ctrlPr>
                            <a:rPr lang="en-IN" sz="1400" i="1">
                              <a:latin typeface="Cambria Math" panose="02040503050406030204" pitchFamily="18" charset="0"/>
                            </a:rPr>
                          </m:ctrlPr>
                        </m:fPr>
                        <m:num>
                          <m:r>
                            <a:rPr lang="en-IN" sz="1400">
                              <a:latin typeface="Cambria Math" panose="02040503050406030204" pitchFamily="18" charset="0"/>
                            </a:rPr>
                            <m:t>𝜕</m:t>
                          </m:r>
                          <m:sSup>
                            <m:sSupPr>
                              <m:ctrlPr>
                                <a:rPr lang="en-IN" sz="1400" i="1">
                                  <a:latin typeface="Cambria Math" panose="02040503050406030204" pitchFamily="18" charset="0"/>
                                </a:rPr>
                              </m:ctrlPr>
                            </m:sSupPr>
                            <m:e>
                              <m:r>
                                <a:rPr lang="en-IN" sz="1400" i="1">
                                  <a:latin typeface="Cambria Math" panose="02040503050406030204" pitchFamily="18" charset="0"/>
                                </a:rPr>
                                <m:t>𝑦</m:t>
                              </m:r>
                            </m:e>
                            <m:sup>
                              <m:r>
                                <a:rPr lang="en-IN" sz="1400" i="1">
                                  <a:latin typeface="Cambria Math" panose="02040503050406030204" pitchFamily="18" charset="0"/>
                                </a:rPr>
                                <m:t>𝑐</m:t>
                              </m:r>
                            </m:sup>
                          </m:sSup>
                        </m:num>
                        <m:den>
                          <m:r>
                            <a:rPr lang="en-IN" sz="1400">
                              <a:latin typeface="Cambria Math" panose="02040503050406030204" pitchFamily="18" charset="0"/>
                            </a:rPr>
                            <m:t>𝜕</m:t>
                          </m:r>
                          <m:sSup>
                            <m:sSupPr>
                              <m:ctrlPr>
                                <a:rPr lang="en-IN" sz="1400" i="1">
                                  <a:latin typeface="Cambria Math" panose="02040503050406030204" pitchFamily="18" charset="0"/>
                                </a:rPr>
                              </m:ctrlPr>
                            </m:sSupPr>
                            <m:e>
                              <m:r>
                                <a:rPr lang="en-IN" sz="1400" i="1">
                                  <a:latin typeface="Cambria Math" panose="02040503050406030204" pitchFamily="18" charset="0"/>
                                </a:rPr>
                                <m:t>𝐴</m:t>
                              </m:r>
                            </m:e>
                            <m:sup>
                              <m:r>
                                <a:rPr lang="en-IN" sz="1400" i="1">
                                  <a:latin typeface="Cambria Math" panose="02040503050406030204" pitchFamily="18" charset="0"/>
                                </a:rPr>
                                <m:t>𝑘</m:t>
                              </m:r>
                            </m:sup>
                          </m:sSup>
                        </m:den>
                      </m:f>
                    </m:oMath>
                  </m:oMathPara>
                </a14:m>
                <a:endParaRPr lang="en-IN" sz="1400" dirty="0"/>
              </a:p>
              <a:p>
                <a:pPr marL="571500" indent="-457200">
                  <a:buNone/>
                </a:pPr>
                <a:r>
                  <a:rPr lang="en-IN" sz="1400" dirty="0">
                    <a:latin typeface="Times New Roman" panose="02020603050405020304" pitchFamily="18" charset="0"/>
                    <a:cs typeface="Times New Roman" pitchFamily="18" charset="0"/>
                  </a:rPr>
                  <a:t>6. Compute second-order gradients:</a:t>
                </a:r>
              </a:p>
              <a:p>
                <a:pPr marL="571500" indent="-457200">
                  <a:buNone/>
                </a:pPr>
                <a14:m>
                  <m:oMathPara xmlns:m="http://schemas.openxmlformats.org/officeDocument/2006/math">
                    <m:oMathParaPr>
                      <m:jc m:val="centerGroup"/>
                    </m:oMathParaPr>
                    <m:oMath xmlns:m="http://schemas.openxmlformats.org/officeDocument/2006/math">
                      <m:f>
                        <m:fPr>
                          <m:ctrlPr>
                            <a:rPr lang="en-IN" sz="1400" i="1">
                              <a:latin typeface="Cambria Math" panose="02040503050406030204" pitchFamily="18" charset="0"/>
                            </a:rPr>
                          </m:ctrlPr>
                        </m:fPr>
                        <m:num>
                          <m:sSup>
                            <m:sSupPr>
                              <m:ctrlPr>
                                <a:rPr lang="en-IN" sz="1400" i="1">
                                  <a:latin typeface="Cambria Math" panose="02040503050406030204" pitchFamily="18" charset="0"/>
                                </a:rPr>
                              </m:ctrlPr>
                            </m:sSupPr>
                            <m:e>
                              <m:r>
                                <a:rPr lang="en-IN" sz="1400">
                                  <a:latin typeface="Cambria Math" panose="02040503050406030204" pitchFamily="18" charset="0"/>
                                </a:rPr>
                                <m:t>𝜕</m:t>
                              </m:r>
                            </m:e>
                            <m:sup>
                              <m:r>
                                <a:rPr lang="en-IN" sz="1400" i="1">
                                  <a:latin typeface="Cambria Math" panose="02040503050406030204" pitchFamily="18" charset="0"/>
                                </a:rPr>
                                <m:t>2</m:t>
                              </m:r>
                            </m:sup>
                          </m:sSup>
                          <m:sSup>
                            <m:sSupPr>
                              <m:ctrlPr>
                                <a:rPr lang="en-IN" sz="1400" i="1">
                                  <a:latin typeface="Cambria Math" panose="02040503050406030204" pitchFamily="18" charset="0"/>
                                </a:rPr>
                              </m:ctrlPr>
                            </m:sSupPr>
                            <m:e>
                              <m:r>
                                <a:rPr lang="en-IN" sz="1400" i="1">
                                  <a:latin typeface="Cambria Math" panose="02040503050406030204" pitchFamily="18" charset="0"/>
                                </a:rPr>
                                <m:t>𝑦</m:t>
                              </m:r>
                            </m:e>
                            <m:sup>
                              <m:r>
                                <a:rPr lang="en-IN" sz="1400" i="1">
                                  <a:latin typeface="Cambria Math" panose="02040503050406030204" pitchFamily="18" charset="0"/>
                                </a:rPr>
                                <m:t>𝑐</m:t>
                              </m:r>
                            </m:sup>
                          </m:sSup>
                        </m:num>
                        <m:den>
                          <m:r>
                            <a:rPr lang="en-IN" sz="1400">
                              <a:latin typeface="Cambria Math" panose="02040503050406030204" pitchFamily="18" charset="0"/>
                            </a:rPr>
                            <m:t>𝜕</m:t>
                          </m:r>
                          <m:r>
                            <a:rPr lang="en-IN" sz="1400" i="1">
                              <a:latin typeface="Cambria Math" panose="02040503050406030204" pitchFamily="18" charset="0"/>
                            </a:rPr>
                            <m:t>(</m:t>
                          </m:r>
                          <m:sSup>
                            <m:sSupPr>
                              <m:ctrlPr>
                                <a:rPr lang="en-IN" sz="1400" i="1">
                                  <a:latin typeface="Cambria Math" panose="02040503050406030204" pitchFamily="18" charset="0"/>
                                </a:rPr>
                              </m:ctrlPr>
                            </m:sSupPr>
                            <m:e>
                              <m:r>
                                <a:rPr lang="en-IN" sz="1400" i="1">
                                  <a:latin typeface="Cambria Math" panose="02040503050406030204" pitchFamily="18" charset="0"/>
                                </a:rPr>
                                <m:t>𝐴</m:t>
                              </m:r>
                            </m:e>
                            <m:sup>
                              <m:r>
                                <a:rPr lang="en-IN" sz="1400" i="1">
                                  <a:latin typeface="Cambria Math" panose="02040503050406030204" pitchFamily="18" charset="0"/>
                                </a:rPr>
                                <m:t>𝑘</m:t>
                              </m:r>
                            </m:sup>
                          </m:sSup>
                          <m:sSup>
                            <m:sSupPr>
                              <m:ctrlPr>
                                <a:rPr lang="en-IN" sz="1400" i="1">
                                  <a:latin typeface="Cambria Math" panose="02040503050406030204" pitchFamily="18" charset="0"/>
                                </a:rPr>
                              </m:ctrlPr>
                            </m:sSupPr>
                            <m:e>
                              <m:r>
                                <a:rPr lang="en-IN" sz="1400" i="1">
                                  <a:latin typeface="Cambria Math" panose="02040503050406030204" pitchFamily="18" charset="0"/>
                                </a:rPr>
                                <m:t>)</m:t>
                              </m:r>
                            </m:e>
                            <m:sup>
                              <m:r>
                                <a:rPr lang="en-IN" sz="1400" i="1">
                                  <a:latin typeface="Cambria Math" panose="02040503050406030204" pitchFamily="18" charset="0"/>
                                </a:rPr>
                                <m:t>2</m:t>
                              </m:r>
                            </m:sup>
                          </m:sSup>
                        </m:den>
                      </m:f>
                    </m:oMath>
                  </m:oMathPara>
                </a14:m>
                <a:endParaRPr lang="en-IN" sz="1400" dirty="0">
                  <a:latin typeface="Times New Roman" pitchFamily="18" charset="0"/>
                  <a:cs typeface="Times New Roman" pitchFamily="18" charset="0"/>
                </a:endParaRPr>
              </a:p>
              <a:p>
                <a:pPr marL="114300" lvl="0" indent="0">
                  <a:buNone/>
                </a:pPr>
                <a:r>
                  <a:rPr lang="en-IN" sz="1400" dirty="0">
                    <a:latin typeface="Times New Roman" pitchFamily="18" charset="0"/>
                    <a:cs typeface="Times New Roman" pitchFamily="18" charset="0"/>
                  </a:rPr>
                  <a:t>7. Compute third-order gradients:</a:t>
                </a:r>
              </a:p>
              <a:p>
                <a:pPr marL="114300" indent="0">
                  <a:buNone/>
                </a:pPr>
                <a14:m>
                  <m:oMathPara xmlns:m="http://schemas.openxmlformats.org/officeDocument/2006/math">
                    <m:oMathParaPr>
                      <m:jc m:val="centerGroup"/>
                    </m:oMathParaPr>
                    <m:oMath xmlns:m="http://schemas.openxmlformats.org/officeDocument/2006/math">
                      <m:f>
                        <m:fPr>
                          <m:ctrlPr>
                            <a:rPr lang="en-IN" sz="1400" i="1">
                              <a:latin typeface="Cambria Math" panose="02040503050406030204" pitchFamily="18" charset="0"/>
                            </a:rPr>
                          </m:ctrlPr>
                        </m:fPr>
                        <m:num>
                          <m:sSup>
                            <m:sSupPr>
                              <m:ctrlPr>
                                <a:rPr lang="en-IN" sz="1400" i="1">
                                  <a:latin typeface="Cambria Math" panose="02040503050406030204" pitchFamily="18" charset="0"/>
                                </a:rPr>
                              </m:ctrlPr>
                            </m:sSupPr>
                            <m:e>
                              <m:r>
                                <a:rPr lang="en-IN" sz="1400">
                                  <a:latin typeface="Cambria Math" panose="02040503050406030204" pitchFamily="18" charset="0"/>
                                </a:rPr>
                                <m:t>𝜕</m:t>
                              </m:r>
                            </m:e>
                            <m:sup>
                              <m:r>
                                <a:rPr lang="en-IN" sz="1400" i="1">
                                  <a:latin typeface="Cambria Math" panose="02040503050406030204" pitchFamily="18" charset="0"/>
                                </a:rPr>
                                <m:t>3</m:t>
                              </m:r>
                            </m:sup>
                          </m:sSup>
                          <m:sSup>
                            <m:sSupPr>
                              <m:ctrlPr>
                                <a:rPr lang="en-IN" sz="1400" i="1">
                                  <a:latin typeface="Cambria Math" panose="02040503050406030204" pitchFamily="18" charset="0"/>
                                </a:rPr>
                              </m:ctrlPr>
                            </m:sSupPr>
                            <m:e>
                              <m:r>
                                <a:rPr lang="en-IN" sz="1400" i="1">
                                  <a:latin typeface="Cambria Math" panose="02040503050406030204" pitchFamily="18" charset="0"/>
                                </a:rPr>
                                <m:t>𝑦</m:t>
                              </m:r>
                            </m:e>
                            <m:sup>
                              <m:r>
                                <a:rPr lang="en-IN" sz="1400" i="1">
                                  <a:latin typeface="Cambria Math" panose="02040503050406030204" pitchFamily="18" charset="0"/>
                                </a:rPr>
                                <m:t>𝑐</m:t>
                              </m:r>
                            </m:sup>
                          </m:sSup>
                        </m:num>
                        <m:den>
                          <m:r>
                            <a:rPr lang="en-IN" sz="1400">
                              <a:latin typeface="Cambria Math" panose="02040503050406030204" pitchFamily="18" charset="0"/>
                            </a:rPr>
                            <m:t>𝜕</m:t>
                          </m:r>
                          <m:r>
                            <a:rPr lang="en-IN" sz="1400" i="1">
                              <a:latin typeface="Cambria Math" panose="02040503050406030204" pitchFamily="18" charset="0"/>
                            </a:rPr>
                            <m:t>(</m:t>
                          </m:r>
                          <m:sSup>
                            <m:sSupPr>
                              <m:ctrlPr>
                                <a:rPr lang="en-IN" sz="1400" i="1">
                                  <a:latin typeface="Cambria Math" panose="02040503050406030204" pitchFamily="18" charset="0"/>
                                </a:rPr>
                              </m:ctrlPr>
                            </m:sSupPr>
                            <m:e>
                              <m:r>
                                <a:rPr lang="en-IN" sz="1400" i="1">
                                  <a:latin typeface="Cambria Math" panose="02040503050406030204" pitchFamily="18" charset="0"/>
                                </a:rPr>
                                <m:t>𝐴</m:t>
                              </m:r>
                            </m:e>
                            <m:sup>
                              <m:r>
                                <a:rPr lang="en-IN" sz="1400" i="1">
                                  <a:latin typeface="Cambria Math" panose="02040503050406030204" pitchFamily="18" charset="0"/>
                                </a:rPr>
                                <m:t>𝑘</m:t>
                              </m:r>
                            </m:sup>
                          </m:sSup>
                          <m:sSup>
                            <m:sSupPr>
                              <m:ctrlPr>
                                <a:rPr lang="en-IN" sz="1400" i="1">
                                  <a:latin typeface="Cambria Math" panose="02040503050406030204" pitchFamily="18" charset="0"/>
                                </a:rPr>
                              </m:ctrlPr>
                            </m:sSupPr>
                            <m:e>
                              <m:r>
                                <a:rPr lang="en-IN" sz="1400" i="1">
                                  <a:latin typeface="Cambria Math" panose="02040503050406030204" pitchFamily="18" charset="0"/>
                                </a:rPr>
                                <m:t>)</m:t>
                              </m:r>
                            </m:e>
                            <m:sup>
                              <m:r>
                                <a:rPr lang="en-IN" sz="1400" i="1">
                                  <a:latin typeface="Cambria Math" panose="02040503050406030204" pitchFamily="18" charset="0"/>
                                </a:rPr>
                                <m:t>3</m:t>
                              </m:r>
                            </m:sup>
                          </m:sSup>
                        </m:den>
                      </m:f>
                    </m:oMath>
                  </m:oMathPara>
                </a14:m>
                <a:endParaRPr lang="en-US" sz="1400" dirty="0">
                  <a:latin typeface="Times New Roman" pitchFamily="18" charset="0"/>
                  <a:cs typeface="Times New Roman" pitchFamily="18" charset="0"/>
                </a:endParaRPr>
              </a:p>
            </p:txBody>
          </p:sp>
        </mc:Choice>
        <mc:Fallback xmlns="">
          <p:sp>
            <p:nvSpPr>
              <p:cNvPr id="214" name="Google Shape;214;p10">
                <a:extLst>
                  <a:ext uri="{FF2B5EF4-FFF2-40B4-BE49-F238E27FC236}">
                    <a16:creationId xmlns:a16="http://schemas.microsoft.com/office/drawing/2014/main" id="{DBBBDF79-053D-A92B-707E-C3CD0B539C94}"/>
                  </a:ext>
                </a:extLst>
              </p:cNvPr>
              <p:cNvSpPr txBox="1">
                <a:spLocks noGrp="1" noRot="1" noChangeAspect="1" noMove="1" noResize="1" noEditPoints="1" noAdjustHandles="1" noChangeArrowheads="1" noChangeShapeType="1" noTextEdit="1"/>
              </p:cNvSpPr>
              <p:nvPr>
                <p:ph type="body" idx="1"/>
              </p:nvPr>
            </p:nvSpPr>
            <p:spPr>
              <a:xfrm>
                <a:off x="799000" y="240383"/>
                <a:ext cx="9023730" cy="6377234"/>
              </a:xfrm>
              <a:prstGeom prst="rect">
                <a:avLst/>
              </a:prstGeom>
              <a:blipFill>
                <a:blip r:embed="rId3"/>
                <a:stretch>
                  <a:fillRect/>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3398111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949433" y="94270"/>
                <a:ext cx="8251128" cy="5920032"/>
              </a:xfrm>
            </p:spPr>
            <p:txBody>
              <a:bodyPr>
                <a:normAutofit/>
              </a:bodyPr>
              <a:lstStyle/>
              <a:p>
                <a:pPr marL="571500" indent="-457200">
                  <a:buNone/>
                </a:pPr>
                <a:endParaRPr lang="en-IN" sz="1400" dirty="0"/>
              </a:p>
              <a:p>
                <a:pPr marL="114300" lvl="0" indent="0">
                  <a:buNone/>
                </a:pPr>
                <a:r>
                  <a:rPr lang="en-IN" sz="1400" dirty="0">
                    <a:latin typeface="Times New Roman" pitchFamily="18" charset="0"/>
                    <a:cs typeface="Times New Roman" pitchFamily="18" charset="0"/>
                  </a:rPr>
                  <a:t>8. Calculate weights :</a:t>
                </a:r>
              </a:p>
              <a:p>
                <a:pPr marL="114300" indent="0">
                  <a:buNone/>
                </a:pPr>
                <a14:m>
                  <m:oMathPara xmlns:m="http://schemas.openxmlformats.org/officeDocument/2006/math">
                    <m:oMathParaPr>
                      <m:jc m:val="centerGroup"/>
                    </m:oMathParaPr>
                    <m:oMath xmlns:m="http://schemas.openxmlformats.org/officeDocument/2006/math">
                      <m:sSubSup>
                        <m:sSubSupPr>
                          <m:ctrlPr>
                            <a:rPr lang="en-IN" sz="1400" i="1">
                              <a:latin typeface="Cambria Math" panose="02040503050406030204" pitchFamily="18" charset="0"/>
                            </a:rPr>
                          </m:ctrlPr>
                        </m:sSubSupPr>
                        <m:e>
                          <m:r>
                            <a:rPr lang="en-IN" sz="1400" i="1">
                              <a:latin typeface="Cambria Math" panose="02040503050406030204" pitchFamily="18" charset="0"/>
                            </a:rPr>
                            <m:t>𝛼</m:t>
                          </m:r>
                        </m:e>
                        <m:sub>
                          <m:r>
                            <a:rPr lang="en-IN" sz="1400" i="1">
                              <a:latin typeface="Cambria Math" panose="02040503050406030204" pitchFamily="18" charset="0"/>
                            </a:rPr>
                            <m:t>𝑖𝑗</m:t>
                          </m:r>
                        </m:sub>
                        <m:sup>
                          <m:r>
                            <a:rPr lang="en-IN" sz="1400" i="1">
                              <a:latin typeface="Cambria Math" panose="02040503050406030204" pitchFamily="18" charset="0"/>
                            </a:rPr>
                            <m:t>𝑘𝑐</m:t>
                          </m:r>
                        </m:sup>
                      </m:sSubSup>
                      <m:r>
                        <a:rPr lang="en-IN" sz="1400" i="1">
                          <a:latin typeface="Cambria Math" panose="02040503050406030204" pitchFamily="18" charset="0"/>
                        </a:rPr>
                        <m:t>=</m:t>
                      </m:r>
                      <m:f>
                        <m:fPr>
                          <m:ctrlPr>
                            <a:rPr lang="en-IN" sz="1400" i="1">
                              <a:latin typeface="Cambria Math" panose="02040503050406030204" pitchFamily="18" charset="0"/>
                            </a:rPr>
                          </m:ctrlPr>
                        </m:fPr>
                        <m:num>
                          <m:f>
                            <m:fPr>
                              <m:ctrlPr>
                                <a:rPr lang="en-IN" sz="1400" i="1">
                                  <a:latin typeface="Cambria Math" panose="02040503050406030204" pitchFamily="18" charset="0"/>
                                </a:rPr>
                              </m:ctrlPr>
                            </m:fPr>
                            <m:num>
                              <m:sSup>
                                <m:sSupPr>
                                  <m:ctrlPr>
                                    <a:rPr lang="en-IN" sz="1400" i="1">
                                      <a:latin typeface="Cambria Math" panose="02040503050406030204" pitchFamily="18" charset="0"/>
                                    </a:rPr>
                                  </m:ctrlPr>
                                </m:sSupPr>
                                <m:e>
                                  <m:r>
                                    <a:rPr lang="en-IN" sz="1400">
                                      <a:latin typeface="Cambria Math" panose="02040503050406030204" pitchFamily="18" charset="0"/>
                                    </a:rPr>
                                    <m:t>𝜕</m:t>
                                  </m:r>
                                </m:e>
                                <m:sup>
                                  <m:r>
                                    <a:rPr lang="en-IN" sz="1400" i="1">
                                      <a:latin typeface="Cambria Math" panose="02040503050406030204" pitchFamily="18" charset="0"/>
                                    </a:rPr>
                                    <m:t>2</m:t>
                                  </m:r>
                                </m:sup>
                              </m:sSup>
                              <m:sSup>
                                <m:sSupPr>
                                  <m:ctrlPr>
                                    <a:rPr lang="en-IN" sz="1400" i="1">
                                      <a:latin typeface="Cambria Math" panose="02040503050406030204" pitchFamily="18" charset="0"/>
                                    </a:rPr>
                                  </m:ctrlPr>
                                </m:sSupPr>
                                <m:e>
                                  <m:r>
                                    <a:rPr lang="en-IN" sz="1400" i="1">
                                      <a:latin typeface="Cambria Math" panose="02040503050406030204" pitchFamily="18" charset="0"/>
                                    </a:rPr>
                                    <m:t>𝑦</m:t>
                                  </m:r>
                                </m:e>
                                <m:sup>
                                  <m:r>
                                    <a:rPr lang="en-IN" sz="1400" i="1">
                                      <a:latin typeface="Cambria Math" panose="02040503050406030204" pitchFamily="18" charset="0"/>
                                    </a:rPr>
                                    <m:t>𝑐</m:t>
                                  </m:r>
                                </m:sup>
                              </m:sSup>
                            </m:num>
                            <m:den>
                              <m:r>
                                <a:rPr lang="en-IN" sz="1400">
                                  <a:latin typeface="Cambria Math" panose="02040503050406030204" pitchFamily="18" charset="0"/>
                                </a:rPr>
                                <m:t>𝜕</m:t>
                              </m:r>
                              <m:r>
                                <a:rPr lang="en-IN" sz="1400" i="1">
                                  <a:latin typeface="Cambria Math" panose="02040503050406030204" pitchFamily="18" charset="0"/>
                                </a:rPr>
                                <m:t>(</m:t>
                              </m:r>
                              <m:sSubSup>
                                <m:sSubSupPr>
                                  <m:ctrlPr>
                                    <a:rPr lang="en-IN" sz="1400" i="1">
                                      <a:latin typeface="Cambria Math" panose="02040503050406030204" pitchFamily="18" charset="0"/>
                                    </a:rPr>
                                  </m:ctrlPr>
                                </m:sSubSupPr>
                                <m:e>
                                  <m:r>
                                    <a:rPr lang="en-IN" sz="1400" i="1">
                                      <a:latin typeface="Cambria Math" panose="02040503050406030204" pitchFamily="18" charset="0"/>
                                    </a:rPr>
                                    <m:t>𝐴</m:t>
                                  </m:r>
                                </m:e>
                                <m:sub>
                                  <m:r>
                                    <a:rPr lang="en-IN" sz="1400" i="1">
                                      <a:latin typeface="Cambria Math" panose="02040503050406030204" pitchFamily="18" charset="0"/>
                                    </a:rPr>
                                    <m:t>𝑖𝑗</m:t>
                                  </m:r>
                                </m:sub>
                                <m:sup>
                                  <m:r>
                                    <a:rPr lang="en-IN" sz="1400" i="1">
                                      <a:latin typeface="Cambria Math" panose="02040503050406030204" pitchFamily="18" charset="0"/>
                                    </a:rPr>
                                    <m:t>𝑘</m:t>
                                  </m:r>
                                </m:sup>
                              </m:sSubSup>
                              <m:sSup>
                                <m:sSupPr>
                                  <m:ctrlPr>
                                    <a:rPr lang="en-IN" sz="1400" i="1">
                                      <a:latin typeface="Cambria Math" panose="02040503050406030204" pitchFamily="18" charset="0"/>
                                    </a:rPr>
                                  </m:ctrlPr>
                                </m:sSupPr>
                                <m:e>
                                  <m:r>
                                    <a:rPr lang="en-IN" sz="1400" i="1">
                                      <a:latin typeface="Cambria Math" panose="02040503050406030204" pitchFamily="18" charset="0"/>
                                    </a:rPr>
                                    <m:t>)</m:t>
                                  </m:r>
                                </m:e>
                                <m:sup>
                                  <m:r>
                                    <a:rPr lang="en-IN" sz="1400" i="1">
                                      <a:latin typeface="Cambria Math" panose="02040503050406030204" pitchFamily="18" charset="0"/>
                                    </a:rPr>
                                    <m:t>2</m:t>
                                  </m:r>
                                </m:sup>
                              </m:sSup>
                            </m:den>
                          </m:f>
                        </m:num>
                        <m:den>
                          <m:r>
                            <a:rPr lang="en-IN" sz="1400" i="1">
                              <a:latin typeface="Cambria Math" panose="02040503050406030204" pitchFamily="18" charset="0"/>
                            </a:rPr>
                            <m:t>2</m:t>
                          </m:r>
                          <m:f>
                            <m:fPr>
                              <m:ctrlPr>
                                <a:rPr lang="en-IN" sz="1400" i="1">
                                  <a:latin typeface="Cambria Math" panose="02040503050406030204" pitchFamily="18" charset="0"/>
                                </a:rPr>
                              </m:ctrlPr>
                            </m:fPr>
                            <m:num>
                              <m:sSup>
                                <m:sSupPr>
                                  <m:ctrlPr>
                                    <a:rPr lang="en-IN" sz="1400" i="1">
                                      <a:latin typeface="Cambria Math" panose="02040503050406030204" pitchFamily="18" charset="0"/>
                                    </a:rPr>
                                  </m:ctrlPr>
                                </m:sSupPr>
                                <m:e>
                                  <m:r>
                                    <a:rPr lang="en-IN" sz="1400">
                                      <a:latin typeface="Cambria Math" panose="02040503050406030204" pitchFamily="18" charset="0"/>
                                    </a:rPr>
                                    <m:t>𝜕</m:t>
                                  </m:r>
                                </m:e>
                                <m:sup>
                                  <m:r>
                                    <a:rPr lang="en-IN" sz="1400" i="1">
                                      <a:latin typeface="Cambria Math" panose="02040503050406030204" pitchFamily="18" charset="0"/>
                                    </a:rPr>
                                    <m:t>2</m:t>
                                  </m:r>
                                </m:sup>
                              </m:sSup>
                              <m:sSup>
                                <m:sSupPr>
                                  <m:ctrlPr>
                                    <a:rPr lang="en-IN" sz="1400" i="1">
                                      <a:latin typeface="Cambria Math" panose="02040503050406030204" pitchFamily="18" charset="0"/>
                                    </a:rPr>
                                  </m:ctrlPr>
                                </m:sSupPr>
                                <m:e>
                                  <m:r>
                                    <a:rPr lang="en-IN" sz="1400" i="1">
                                      <a:latin typeface="Cambria Math" panose="02040503050406030204" pitchFamily="18" charset="0"/>
                                    </a:rPr>
                                    <m:t>𝑦</m:t>
                                  </m:r>
                                </m:e>
                                <m:sup>
                                  <m:r>
                                    <a:rPr lang="en-IN" sz="1400" i="1">
                                      <a:latin typeface="Cambria Math" panose="02040503050406030204" pitchFamily="18" charset="0"/>
                                    </a:rPr>
                                    <m:t>𝑐</m:t>
                                  </m:r>
                                </m:sup>
                              </m:sSup>
                            </m:num>
                            <m:den>
                              <m:r>
                                <a:rPr lang="en-IN" sz="1400">
                                  <a:latin typeface="Cambria Math" panose="02040503050406030204" pitchFamily="18" charset="0"/>
                                </a:rPr>
                                <m:t>𝜕</m:t>
                              </m:r>
                              <m:r>
                                <a:rPr lang="en-IN" sz="1400" i="1">
                                  <a:latin typeface="Cambria Math" panose="02040503050406030204" pitchFamily="18" charset="0"/>
                                </a:rPr>
                                <m:t>(</m:t>
                              </m:r>
                              <m:sSubSup>
                                <m:sSubSupPr>
                                  <m:ctrlPr>
                                    <a:rPr lang="en-IN" sz="1400" i="1">
                                      <a:latin typeface="Cambria Math" panose="02040503050406030204" pitchFamily="18" charset="0"/>
                                    </a:rPr>
                                  </m:ctrlPr>
                                </m:sSubSupPr>
                                <m:e>
                                  <m:r>
                                    <a:rPr lang="en-IN" sz="1400" i="1">
                                      <a:latin typeface="Cambria Math" panose="02040503050406030204" pitchFamily="18" charset="0"/>
                                    </a:rPr>
                                    <m:t>𝐴</m:t>
                                  </m:r>
                                </m:e>
                                <m:sub>
                                  <m:r>
                                    <a:rPr lang="en-IN" sz="1400" i="1">
                                      <a:latin typeface="Cambria Math" panose="02040503050406030204" pitchFamily="18" charset="0"/>
                                    </a:rPr>
                                    <m:t>𝑖𝑗</m:t>
                                  </m:r>
                                </m:sub>
                                <m:sup>
                                  <m:r>
                                    <a:rPr lang="en-IN" sz="1400" i="1">
                                      <a:latin typeface="Cambria Math" panose="02040503050406030204" pitchFamily="18" charset="0"/>
                                    </a:rPr>
                                    <m:t>𝑘</m:t>
                                  </m:r>
                                </m:sup>
                              </m:sSubSup>
                              <m:sSup>
                                <m:sSupPr>
                                  <m:ctrlPr>
                                    <a:rPr lang="en-IN" sz="1400" i="1">
                                      <a:latin typeface="Cambria Math" panose="02040503050406030204" pitchFamily="18" charset="0"/>
                                    </a:rPr>
                                  </m:ctrlPr>
                                </m:sSupPr>
                                <m:e>
                                  <m:r>
                                    <a:rPr lang="en-IN" sz="1400" i="1">
                                      <a:latin typeface="Cambria Math" panose="02040503050406030204" pitchFamily="18" charset="0"/>
                                    </a:rPr>
                                    <m:t>)</m:t>
                                  </m:r>
                                </m:e>
                                <m:sup>
                                  <m:r>
                                    <a:rPr lang="en-IN" sz="1400" i="1">
                                      <a:latin typeface="Cambria Math" panose="02040503050406030204" pitchFamily="18" charset="0"/>
                                    </a:rPr>
                                    <m:t>2</m:t>
                                  </m:r>
                                </m:sup>
                              </m:sSup>
                            </m:den>
                          </m:f>
                          <m:r>
                            <a:rPr lang="en-IN" sz="1400" i="1">
                              <a:latin typeface="Cambria Math" panose="02040503050406030204" pitchFamily="18" charset="0"/>
                            </a:rPr>
                            <m:t>+</m:t>
                          </m:r>
                          <m:nary>
                            <m:naryPr>
                              <m:chr m:val="∑"/>
                              <m:limLoc m:val="undOvr"/>
                              <m:grow m:val="on"/>
                              <m:supHide m:val="on"/>
                              <m:ctrlPr>
                                <a:rPr lang="en-IN" sz="1400" i="1">
                                  <a:latin typeface="Cambria Math" panose="02040503050406030204" pitchFamily="18" charset="0"/>
                                </a:rPr>
                              </m:ctrlPr>
                            </m:naryPr>
                            <m:sub>
                              <m:r>
                                <a:rPr lang="en-IN" sz="1400" i="1">
                                  <a:latin typeface="Cambria Math" panose="02040503050406030204" pitchFamily="18" charset="0"/>
                                </a:rPr>
                                <m:t>𝑎</m:t>
                              </m:r>
                              <m:r>
                                <a:rPr lang="en-IN" sz="1400" i="1">
                                  <a:latin typeface="Cambria Math" panose="02040503050406030204" pitchFamily="18" charset="0"/>
                                </a:rPr>
                                <m:t>,</m:t>
                              </m:r>
                              <m:r>
                                <a:rPr lang="en-IN" sz="1400" i="1">
                                  <a:latin typeface="Cambria Math" panose="02040503050406030204" pitchFamily="18" charset="0"/>
                                </a:rPr>
                                <m:t>𝑏</m:t>
                              </m:r>
                            </m:sub>
                            <m:sup/>
                            <m:e>
                              <m:sSubSup>
                                <m:sSubSupPr>
                                  <m:ctrlPr>
                                    <a:rPr lang="en-IN" sz="1400" i="1">
                                      <a:latin typeface="Cambria Math" panose="02040503050406030204" pitchFamily="18" charset="0"/>
                                    </a:rPr>
                                  </m:ctrlPr>
                                </m:sSubSupPr>
                                <m:e>
                                  <m:r>
                                    <a:rPr lang="en-IN" sz="1400" i="1">
                                      <a:latin typeface="Cambria Math" panose="02040503050406030204" pitchFamily="18" charset="0"/>
                                    </a:rPr>
                                    <m:t>𝐴</m:t>
                                  </m:r>
                                </m:e>
                                <m:sub>
                                  <m:r>
                                    <a:rPr lang="en-IN" sz="1400" i="1">
                                      <a:latin typeface="Cambria Math" panose="02040503050406030204" pitchFamily="18" charset="0"/>
                                    </a:rPr>
                                    <m:t>𝑎𝑏</m:t>
                                  </m:r>
                                </m:sub>
                                <m:sup>
                                  <m:r>
                                    <a:rPr lang="en-IN" sz="1400" i="1">
                                      <a:latin typeface="Cambria Math" panose="02040503050406030204" pitchFamily="18" charset="0"/>
                                    </a:rPr>
                                    <m:t>𝑘</m:t>
                                  </m:r>
                                </m:sup>
                              </m:sSubSup>
                            </m:e>
                          </m:nary>
                          <m:f>
                            <m:fPr>
                              <m:ctrlPr>
                                <a:rPr lang="en-IN" sz="1400" i="1">
                                  <a:latin typeface="Cambria Math" panose="02040503050406030204" pitchFamily="18" charset="0"/>
                                </a:rPr>
                              </m:ctrlPr>
                            </m:fPr>
                            <m:num>
                              <m:sSup>
                                <m:sSupPr>
                                  <m:ctrlPr>
                                    <a:rPr lang="en-IN" sz="1400" i="1">
                                      <a:latin typeface="Cambria Math" panose="02040503050406030204" pitchFamily="18" charset="0"/>
                                    </a:rPr>
                                  </m:ctrlPr>
                                </m:sSupPr>
                                <m:e>
                                  <m:r>
                                    <a:rPr lang="en-IN" sz="1400">
                                      <a:latin typeface="Cambria Math" panose="02040503050406030204" pitchFamily="18" charset="0"/>
                                    </a:rPr>
                                    <m:t>𝜕</m:t>
                                  </m:r>
                                </m:e>
                                <m:sup>
                                  <m:r>
                                    <a:rPr lang="en-IN" sz="1400" i="1">
                                      <a:latin typeface="Cambria Math" panose="02040503050406030204" pitchFamily="18" charset="0"/>
                                    </a:rPr>
                                    <m:t>3</m:t>
                                  </m:r>
                                </m:sup>
                              </m:sSup>
                              <m:sSup>
                                <m:sSupPr>
                                  <m:ctrlPr>
                                    <a:rPr lang="en-IN" sz="1400" i="1">
                                      <a:latin typeface="Cambria Math" panose="02040503050406030204" pitchFamily="18" charset="0"/>
                                    </a:rPr>
                                  </m:ctrlPr>
                                </m:sSupPr>
                                <m:e>
                                  <m:r>
                                    <a:rPr lang="en-IN" sz="1400" i="1">
                                      <a:latin typeface="Cambria Math" panose="02040503050406030204" pitchFamily="18" charset="0"/>
                                    </a:rPr>
                                    <m:t>𝑦</m:t>
                                  </m:r>
                                </m:e>
                                <m:sup>
                                  <m:r>
                                    <a:rPr lang="en-IN" sz="1400" i="1">
                                      <a:latin typeface="Cambria Math" panose="02040503050406030204" pitchFamily="18" charset="0"/>
                                    </a:rPr>
                                    <m:t>𝑐</m:t>
                                  </m:r>
                                </m:sup>
                              </m:sSup>
                            </m:num>
                            <m:den>
                              <m:r>
                                <a:rPr lang="en-IN" sz="1400">
                                  <a:latin typeface="Cambria Math" panose="02040503050406030204" pitchFamily="18" charset="0"/>
                                </a:rPr>
                                <m:t>𝜕</m:t>
                              </m:r>
                              <m:r>
                                <a:rPr lang="en-IN" sz="1400" i="1">
                                  <a:latin typeface="Cambria Math" panose="02040503050406030204" pitchFamily="18" charset="0"/>
                                </a:rPr>
                                <m:t>(</m:t>
                              </m:r>
                              <m:sSubSup>
                                <m:sSubSupPr>
                                  <m:ctrlPr>
                                    <a:rPr lang="en-IN" sz="1400" i="1">
                                      <a:latin typeface="Cambria Math" panose="02040503050406030204" pitchFamily="18" charset="0"/>
                                    </a:rPr>
                                  </m:ctrlPr>
                                </m:sSubSupPr>
                                <m:e>
                                  <m:r>
                                    <a:rPr lang="en-IN" sz="1400" i="1">
                                      <a:latin typeface="Cambria Math" panose="02040503050406030204" pitchFamily="18" charset="0"/>
                                    </a:rPr>
                                    <m:t>𝐴</m:t>
                                  </m:r>
                                </m:e>
                                <m:sub>
                                  <m:r>
                                    <a:rPr lang="en-IN" sz="1400" i="1">
                                      <a:latin typeface="Cambria Math" panose="02040503050406030204" pitchFamily="18" charset="0"/>
                                    </a:rPr>
                                    <m:t>𝑎𝑏</m:t>
                                  </m:r>
                                </m:sub>
                                <m:sup>
                                  <m:r>
                                    <a:rPr lang="en-IN" sz="1400" i="1">
                                      <a:latin typeface="Cambria Math" panose="02040503050406030204" pitchFamily="18" charset="0"/>
                                    </a:rPr>
                                    <m:t>𝑘</m:t>
                                  </m:r>
                                </m:sup>
                              </m:sSubSup>
                              <m:sSup>
                                <m:sSupPr>
                                  <m:ctrlPr>
                                    <a:rPr lang="en-IN" sz="1400" i="1">
                                      <a:latin typeface="Cambria Math" panose="02040503050406030204" pitchFamily="18" charset="0"/>
                                    </a:rPr>
                                  </m:ctrlPr>
                                </m:sSupPr>
                                <m:e>
                                  <m:r>
                                    <a:rPr lang="en-IN" sz="1400" i="1">
                                      <a:latin typeface="Cambria Math" panose="02040503050406030204" pitchFamily="18" charset="0"/>
                                    </a:rPr>
                                    <m:t>)</m:t>
                                  </m:r>
                                </m:e>
                                <m:sup>
                                  <m:r>
                                    <a:rPr lang="en-IN" sz="1400" i="1">
                                      <a:latin typeface="Cambria Math" panose="02040503050406030204" pitchFamily="18" charset="0"/>
                                    </a:rPr>
                                    <m:t>3</m:t>
                                  </m:r>
                                </m:sup>
                              </m:sSup>
                            </m:den>
                          </m:f>
                        </m:den>
                      </m:f>
                    </m:oMath>
                  </m:oMathPara>
                </a14:m>
                <a:endParaRPr lang="en-US" sz="1400" dirty="0">
                  <a:latin typeface="Times New Roman" pitchFamily="18" charset="0"/>
                  <a:cs typeface="Times New Roman" pitchFamily="18" charset="0"/>
                </a:endParaRPr>
              </a:p>
              <a:p>
                <a:pPr marL="114300" lvl="0" indent="0">
                  <a:buNone/>
                </a:pPr>
                <a:r>
                  <a:rPr lang="en-IN" sz="1400" dirty="0">
                    <a:latin typeface="Times New Roman" pitchFamily="18" charset="0"/>
                    <a:cs typeface="Times New Roman" pitchFamily="18" charset="0"/>
                  </a:rPr>
                  <a:t>9. Compute importance weights:</a:t>
                </a:r>
              </a:p>
              <a:p>
                <a:pPr marL="114300" indent="0">
                  <a:buNone/>
                </a:pPr>
                <a14:m>
                  <m:oMathPara xmlns:m="http://schemas.openxmlformats.org/officeDocument/2006/math">
                    <m:oMathParaPr>
                      <m:jc m:val="centerGroup"/>
                    </m:oMathParaPr>
                    <m:oMath xmlns:m="http://schemas.openxmlformats.org/officeDocument/2006/math">
                      <m:sSubSup>
                        <m:sSubSupPr>
                          <m:ctrlPr>
                            <a:rPr lang="en-IN" sz="1400" i="1">
                              <a:latin typeface="Cambria Math" panose="02040503050406030204" pitchFamily="18" charset="0"/>
                            </a:rPr>
                          </m:ctrlPr>
                        </m:sSubSupPr>
                        <m:e>
                          <m:r>
                            <a:rPr lang="en-IN" sz="1400" i="1">
                              <a:latin typeface="Cambria Math" panose="02040503050406030204" pitchFamily="18" charset="0"/>
                            </a:rPr>
                            <m:t>𝑤</m:t>
                          </m:r>
                        </m:e>
                        <m:sub>
                          <m:r>
                            <a:rPr lang="en-IN" sz="1400" i="1">
                              <a:latin typeface="Cambria Math" panose="02040503050406030204" pitchFamily="18" charset="0"/>
                            </a:rPr>
                            <m:t>𝑘</m:t>
                          </m:r>
                        </m:sub>
                        <m:sup>
                          <m:r>
                            <a:rPr lang="en-IN" sz="1400" i="1">
                              <a:latin typeface="Cambria Math" panose="02040503050406030204" pitchFamily="18" charset="0"/>
                            </a:rPr>
                            <m:t>𝑐</m:t>
                          </m:r>
                        </m:sup>
                      </m:sSubSup>
                      <m:r>
                        <a:rPr lang="en-IN" sz="1400" i="1">
                          <a:latin typeface="Cambria Math" panose="02040503050406030204" pitchFamily="18" charset="0"/>
                        </a:rPr>
                        <m:t>=</m:t>
                      </m:r>
                      <m:nary>
                        <m:naryPr>
                          <m:chr m:val="∑"/>
                          <m:limLoc m:val="undOvr"/>
                          <m:grow m:val="on"/>
                          <m:supHide m:val="on"/>
                          <m:ctrlPr>
                            <a:rPr lang="en-IN" sz="1400" i="1">
                              <a:latin typeface="Cambria Math" panose="02040503050406030204" pitchFamily="18" charset="0"/>
                            </a:rPr>
                          </m:ctrlPr>
                        </m:naryPr>
                        <m:sub>
                          <m:r>
                            <a:rPr lang="en-IN" sz="1400" i="1">
                              <a:latin typeface="Cambria Math" panose="02040503050406030204" pitchFamily="18" charset="0"/>
                            </a:rPr>
                            <m:t>𝑖</m:t>
                          </m:r>
                        </m:sub>
                        <m:sup/>
                        <m:e>
                          <m:nary>
                            <m:naryPr>
                              <m:chr m:val="∑"/>
                              <m:limLoc m:val="undOvr"/>
                              <m:grow m:val="on"/>
                              <m:supHide m:val="on"/>
                              <m:ctrlPr>
                                <a:rPr lang="en-IN" sz="1400" i="1">
                                  <a:latin typeface="Cambria Math" panose="02040503050406030204" pitchFamily="18" charset="0"/>
                                </a:rPr>
                              </m:ctrlPr>
                            </m:naryPr>
                            <m:sub>
                              <m:r>
                                <a:rPr lang="en-IN" sz="1400" i="1">
                                  <a:latin typeface="Cambria Math" panose="02040503050406030204" pitchFamily="18" charset="0"/>
                                </a:rPr>
                                <m:t>𝑗</m:t>
                              </m:r>
                            </m:sub>
                            <m:sup/>
                            <m:e>
                              <m:sSubSup>
                                <m:sSubSupPr>
                                  <m:ctrlPr>
                                    <a:rPr lang="en-IN" sz="1400" i="1">
                                      <a:latin typeface="Cambria Math" panose="02040503050406030204" pitchFamily="18" charset="0"/>
                                    </a:rPr>
                                  </m:ctrlPr>
                                </m:sSubSupPr>
                                <m:e>
                                  <m:r>
                                    <a:rPr lang="en-IN" sz="1400" i="1">
                                      <a:latin typeface="Cambria Math" panose="02040503050406030204" pitchFamily="18" charset="0"/>
                                    </a:rPr>
                                    <m:t>𝛼</m:t>
                                  </m:r>
                                </m:e>
                                <m:sub>
                                  <m:r>
                                    <a:rPr lang="en-IN" sz="1400" i="1">
                                      <a:latin typeface="Cambria Math" panose="02040503050406030204" pitchFamily="18" charset="0"/>
                                    </a:rPr>
                                    <m:t>𝑖𝑗</m:t>
                                  </m:r>
                                </m:sub>
                                <m:sup>
                                  <m:r>
                                    <a:rPr lang="en-IN" sz="1400" i="1">
                                      <a:latin typeface="Cambria Math" panose="02040503050406030204" pitchFamily="18" charset="0"/>
                                    </a:rPr>
                                    <m:t>𝑘𝑐</m:t>
                                  </m:r>
                                </m:sup>
                              </m:sSubSup>
                            </m:e>
                          </m:nary>
                        </m:e>
                      </m:nary>
                      <m:r>
                        <a:rPr lang="en-IN" sz="1400" i="1">
                          <a:latin typeface="Cambria Math" panose="02040503050406030204" pitchFamily="18" charset="0"/>
                        </a:rPr>
                        <m:t>⋅</m:t>
                      </m:r>
                      <m:r>
                        <m:rPr>
                          <m:nor/>
                        </m:rPr>
                        <a:rPr lang="en-IN" sz="1400"/>
                        <m:t>ReLU</m:t>
                      </m:r>
                      <m:d>
                        <m:dPr>
                          <m:ctrlPr>
                            <a:rPr lang="en-IN" sz="1400" i="1">
                              <a:latin typeface="Cambria Math" panose="02040503050406030204" pitchFamily="18" charset="0"/>
                            </a:rPr>
                          </m:ctrlPr>
                        </m:dPr>
                        <m:e>
                          <m:f>
                            <m:fPr>
                              <m:ctrlPr>
                                <a:rPr lang="en-IN" sz="1400" i="1">
                                  <a:latin typeface="Cambria Math" panose="02040503050406030204" pitchFamily="18" charset="0"/>
                                </a:rPr>
                              </m:ctrlPr>
                            </m:fPr>
                            <m:num>
                              <m:r>
                                <a:rPr lang="en-IN" sz="1400">
                                  <a:latin typeface="Cambria Math" panose="02040503050406030204" pitchFamily="18" charset="0"/>
                                </a:rPr>
                                <m:t>𝜕</m:t>
                              </m:r>
                              <m:sSup>
                                <m:sSupPr>
                                  <m:ctrlPr>
                                    <a:rPr lang="en-IN" sz="1400" i="1">
                                      <a:latin typeface="Cambria Math" panose="02040503050406030204" pitchFamily="18" charset="0"/>
                                    </a:rPr>
                                  </m:ctrlPr>
                                </m:sSupPr>
                                <m:e>
                                  <m:r>
                                    <a:rPr lang="en-IN" sz="1400" i="1">
                                      <a:latin typeface="Cambria Math" panose="02040503050406030204" pitchFamily="18" charset="0"/>
                                    </a:rPr>
                                    <m:t>𝑦</m:t>
                                  </m:r>
                                </m:e>
                                <m:sup>
                                  <m:r>
                                    <a:rPr lang="en-IN" sz="1400" i="1">
                                      <a:latin typeface="Cambria Math" panose="02040503050406030204" pitchFamily="18" charset="0"/>
                                    </a:rPr>
                                    <m:t>𝑐</m:t>
                                  </m:r>
                                </m:sup>
                              </m:sSup>
                            </m:num>
                            <m:den>
                              <m:r>
                                <a:rPr lang="en-IN" sz="1400">
                                  <a:latin typeface="Cambria Math" panose="02040503050406030204" pitchFamily="18" charset="0"/>
                                </a:rPr>
                                <m:t>𝜕</m:t>
                              </m:r>
                              <m:sSubSup>
                                <m:sSubSupPr>
                                  <m:ctrlPr>
                                    <a:rPr lang="en-IN" sz="1400" i="1">
                                      <a:latin typeface="Cambria Math" panose="02040503050406030204" pitchFamily="18" charset="0"/>
                                    </a:rPr>
                                  </m:ctrlPr>
                                </m:sSubSupPr>
                                <m:e>
                                  <m:r>
                                    <a:rPr lang="en-IN" sz="1400" i="1">
                                      <a:latin typeface="Cambria Math" panose="02040503050406030204" pitchFamily="18" charset="0"/>
                                    </a:rPr>
                                    <m:t>𝐴</m:t>
                                  </m:r>
                                </m:e>
                                <m:sub>
                                  <m:r>
                                    <a:rPr lang="en-IN" sz="1400" i="1">
                                      <a:latin typeface="Cambria Math" panose="02040503050406030204" pitchFamily="18" charset="0"/>
                                    </a:rPr>
                                    <m:t>𝑖𝑗</m:t>
                                  </m:r>
                                </m:sub>
                                <m:sup>
                                  <m:r>
                                    <a:rPr lang="en-IN" sz="1400" i="1">
                                      <a:latin typeface="Cambria Math" panose="02040503050406030204" pitchFamily="18" charset="0"/>
                                    </a:rPr>
                                    <m:t>𝑘</m:t>
                                  </m:r>
                                </m:sup>
                              </m:sSubSup>
                            </m:den>
                          </m:f>
                        </m:e>
                      </m:d>
                    </m:oMath>
                  </m:oMathPara>
                </a14:m>
                <a:endParaRPr lang="en-IN" sz="1400" dirty="0"/>
              </a:p>
              <a:p>
                <a:pPr marL="114300" lvl="0" indent="0">
                  <a:buNone/>
                </a:pPr>
                <a:endParaRPr lang="en-US" sz="1400" dirty="0">
                  <a:latin typeface="Times New Roman" pitchFamily="18" charset="0"/>
                  <a:cs typeface="Times New Roman" pitchFamily="18" charset="0"/>
                </a:endParaRPr>
              </a:p>
              <a:p>
                <a:pPr marL="114300" lvl="0" indent="0">
                  <a:buNone/>
                </a:pPr>
                <a:r>
                  <a:rPr lang="en-IN" sz="1400" dirty="0">
                    <a:latin typeface="Times New Roman" pitchFamily="18" charset="0"/>
                    <a:cs typeface="Times New Roman" pitchFamily="18" charset="0"/>
                  </a:rPr>
                  <a:t>10. Compute weighted combination of feature maps: </a:t>
                </a:r>
              </a:p>
              <a:p>
                <a:pPr marL="114300" indent="0">
                  <a:buNone/>
                </a:pPr>
                <a14:m>
                  <m:oMathPara xmlns:m="http://schemas.openxmlformats.org/officeDocument/2006/math">
                    <m:oMathParaPr>
                      <m:jc m:val="centerGroup"/>
                    </m:oMathParaPr>
                    <m:oMath xmlns:m="http://schemas.openxmlformats.org/officeDocument/2006/math">
                      <m:sSup>
                        <m:sSupPr>
                          <m:ctrlPr>
                            <a:rPr lang="en-IN" sz="1400" i="1">
                              <a:latin typeface="Cambria Math" panose="02040503050406030204" pitchFamily="18" charset="0"/>
                            </a:rPr>
                          </m:ctrlPr>
                        </m:sSupPr>
                        <m:e>
                          <m:r>
                            <a:rPr lang="en-IN" sz="1400" i="1">
                              <a:latin typeface="Cambria Math" panose="02040503050406030204" pitchFamily="18" charset="0"/>
                            </a:rPr>
                            <m:t>𝐿</m:t>
                          </m:r>
                        </m:e>
                        <m:sup>
                          <m:r>
                            <a:rPr lang="en-IN" sz="1400" i="1">
                              <a:latin typeface="Cambria Math" panose="02040503050406030204" pitchFamily="18" charset="0"/>
                            </a:rPr>
                            <m:t>𝑐</m:t>
                          </m:r>
                        </m:sup>
                      </m:sSup>
                      <m:r>
                        <a:rPr lang="en-IN" sz="1400" i="1">
                          <a:latin typeface="Cambria Math" panose="02040503050406030204" pitchFamily="18" charset="0"/>
                        </a:rPr>
                        <m:t>=</m:t>
                      </m:r>
                      <m:nary>
                        <m:naryPr>
                          <m:chr m:val="∑"/>
                          <m:limLoc m:val="undOvr"/>
                          <m:grow m:val="on"/>
                          <m:supHide m:val="on"/>
                          <m:ctrlPr>
                            <a:rPr lang="en-IN" sz="1400" i="1">
                              <a:latin typeface="Cambria Math" panose="02040503050406030204" pitchFamily="18" charset="0"/>
                            </a:rPr>
                          </m:ctrlPr>
                        </m:naryPr>
                        <m:sub>
                          <m:r>
                            <a:rPr lang="en-IN" sz="1400" i="1">
                              <a:latin typeface="Cambria Math" panose="02040503050406030204" pitchFamily="18" charset="0"/>
                            </a:rPr>
                            <m:t>𝑘</m:t>
                          </m:r>
                        </m:sub>
                        <m:sup/>
                        <m:e>
                          <m:sSubSup>
                            <m:sSubSupPr>
                              <m:ctrlPr>
                                <a:rPr lang="en-IN" sz="1400" i="1">
                                  <a:latin typeface="Cambria Math" panose="02040503050406030204" pitchFamily="18" charset="0"/>
                                </a:rPr>
                              </m:ctrlPr>
                            </m:sSubSupPr>
                            <m:e>
                              <m:r>
                                <a:rPr lang="en-IN" sz="1400" i="1">
                                  <a:latin typeface="Cambria Math" panose="02040503050406030204" pitchFamily="18" charset="0"/>
                                </a:rPr>
                                <m:t>𝑤</m:t>
                              </m:r>
                            </m:e>
                            <m:sub>
                              <m:r>
                                <a:rPr lang="en-IN" sz="1400" i="1">
                                  <a:latin typeface="Cambria Math" panose="02040503050406030204" pitchFamily="18" charset="0"/>
                                </a:rPr>
                                <m:t>𝑘</m:t>
                              </m:r>
                            </m:sub>
                            <m:sup>
                              <m:r>
                                <a:rPr lang="en-IN" sz="1400" i="1">
                                  <a:latin typeface="Cambria Math" panose="02040503050406030204" pitchFamily="18" charset="0"/>
                                </a:rPr>
                                <m:t>𝑐</m:t>
                              </m:r>
                            </m:sup>
                          </m:sSubSup>
                        </m:e>
                      </m:nary>
                      <m:sSup>
                        <m:sSupPr>
                          <m:ctrlPr>
                            <a:rPr lang="en-IN" sz="1400" i="1">
                              <a:latin typeface="Cambria Math" panose="02040503050406030204" pitchFamily="18" charset="0"/>
                            </a:rPr>
                          </m:ctrlPr>
                        </m:sSupPr>
                        <m:e>
                          <m:r>
                            <a:rPr lang="en-IN" sz="1400" i="1">
                              <a:latin typeface="Cambria Math" panose="02040503050406030204" pitchFamily="18" charset="0"/>
                            </a:rPr>
                            <m:t>𝐴</m:t>
                          </m:r>
                        </m:e>
                        <m:sup>
                          <m:r>
                            <a:rPr lang="en-IN" sz="1400" i="1">
                              <a:latin typeface="Cambria Math" panose="02040503050406030204" pitchFamily="18" charset="0"/>
                            </a:rPr>
                            <m:t>𝑘</m:t>
                          </m:r>
                        </m:sup>
                      </m:sSup>
                    </m:oMath>
                  </m:oMathPara>
                </a14:m>
                <a:endParaRPr lang="en-US" sz="1400" dirty="0">
                  <a:latin typeface="Times New Roman" pitchFamily="18" charset="0"/>
                  <a:cs typeface="Times New Roman" pitchFamily="18" charset="0"/>
                </a:endParaRPr>
              </a:p>
              <a:p>
                <a:pPr marL="114300" lvl="0" indent="0">
                  <a:lnSpc>
                    <a:spcPct val="150000"/>
                  </a:lnSpc>
                  <a:buNone/>
                </a:pPr>
                <a:r>
                  <a:rPr lang="en-IN" sz="1400" dirty="0">
                    <a:latin typeface="Times New Roman" pitchFamily="18" charset="0"/>
                    <a:cs typeface="Times New Roman" pitchFamily="18" charset="0"/>
                  </a:rPr>
                  <a:t>11. Apply </a:t>
                </a:r>
                <a:r>
                  <a:rPr lang="en-IN" sz="1400" dirty="0" err="1">
                    <a:latin typeface="Times New Roman" pitchFamily="18" charset="0"/>
                    <a:cs typeface="Times New Roman" pitchFamily="18" charset="0"/>
                  </a:rPr>
                  <a:t>ReLU</a:t>
                </a:r>
                <a:r>
                  <a:rPr lang="en-IN" sz="1400" dirty="0">
                    <a:latin typeface="Times New Roman" pitchFamily="18" charset="0"/>
                    <a:cs typeface="Times New Roman" pitchFamily="18" charset="0"/>
                  </a:rPr>
                  <a:t> to obtain final heatmap: </a:t>
                </a:r>
              </a:p>
              <a:p>
                <a:pPr marL="114300" indent="0">
                  <a:lnSpc>
                    <a:spcPct val="150000"/>
                  </a:lnSpc>
                  <a:buNone/>
                </a:pPr>
                <a14:m>
                  <m:oMathPara xmlns:m="http://schemas.openxmlformats.org/officeDocument/2006/math">
                    <m:oMathParaPr>
                      <m:jc m:val="centerGroup"/>
                    </m:oMathParaPr>
                    <m:oMath xmlns:m="http://schemas.openxmlformats.org/officeDocument/2006/math">
                      <m:sSubSup>
                        <m:sSubSupPr>
                          <m:ctrlPr>
                            <a:rPr lang="en-IN" sz="1400" i="1">
                              <a:latin typeface="Cambria Math" panose="02040503050406030204" pitchFamily="18" charset="0"/>
                            </a:rPr>
                          </m:ctrlPr>
                        </m:sSubSupPr>
                        <m:e>
                          <m:r>
                            <a:rPr lang="en-IN" sz="1400" i="1">
                              <a:latin typeface="Cambria Math" panose="02040503050406030204" pitchFamily="18" charset="0"/>
                            </a:rPr>
                            <m:t>𝐿</m:t>
                          </m:r>
                        </m:e>
                        <m:sub>
                          <m:r>
                            <a:rPr lang="en-IN" sz="1400" i="1">
                              <a:latin typeface="Cambria Math" panose="02040503050406030204" pitchFamily="18" charset="0"/>
                            </a:rPr>
                            <m:t>𝐺𝑟𝑎𝑑</m:t>
                          </m:r>
                          <m:r>
                            <a:rPr lang="en-IN" sz="1400" i="1">
                              <a:latin typeface="Cambria Math" panose="02040503050406030204" pitchFamily="18" charset="0"/>
                            </a:rPr>
                            <m:t>−</m:t>
                          </m:r>
                          <m:r>
                            <a:rPr lang="en-IN" sz="1400" i="1">
                              <a:latin typeface="Cambria Math" panose="02040503050406030204" pitchFamily="18" charset="0"/>
                            </a:rPr>
                            <m:t>𝐶𝐴𝑀</m:t>
                          </m:r>
                          <m:r>
                            <a:rPr lang="en-IN" sz="1400" i="1">
                              <a:latin typeface="Cambria Math" panose="02040503050406030204" pitchFamily="18" charset="0"/>
                            </a:rPr>
                            <m:t>++</m:t>
                          </m:r>
                        </m:sub>
                        <m:sup>
                          <m:r>
                            <a:rPr lang="en-IN" sz="1400" i="1">
                              <a:latin typeface="Cambria Math" panose="02040503050406030204" pitchFamily="18" charset="0"/>
                            </a:rPr>
                            <m:t>𝑐</m:t>
                          </m:r>
                        </m:sup>
                      </m:sSubSup>
                      <m:r>
                        <a:rPr lang="en-IN" sz="1400" i="1">
                          <a:latin typeface="Cambria Math" panose="02040503050406030204" pitchFamily="18" charset="0"/>
                        </a:rPr>
                        <m:t>=</m:t>
                      </m:r>
                      <m:r>
                        <m:rPr>
                          <m:nor/>
                        </m:rPr>
                        <a:rPr lang="en-IN" sz="1400"/>
                        <m:t>ReLU</m:t>
                      </m:r>
                      <m:r>
                        <a:rPr lang="en-IN" sz="1400" i="1">
                          <a:latin typeface="Cambria Math" panose="02040503050406030204" pitchFamily="18" charset="0"/>
                        </a:rPr>
                        <m:t>(</m:t>
                      </m:r>
                      <m:sSup>
                        <m:sSupPr>
                          <m:ctrlPr>
                            <a:rPr lang="en-IN" sz="1400" i="1">
                              <a:latin typeface="Cambria Math" panose="02040503050406030204" pitchFamily="18" charset="0"/>
                            </a:rPr>
                          </m:ctrlPr>
                        </m:sSupPr>
                        <m:e>
                          <m:r>
                            <a:rPr lang="en-IN" sz="1400" i="1">
                              <a:latin typeface="Cambria Math" panose="02040503050406030204" pitchFamily="18" charset="0"/>
                            </a:rPr>
                            <m:t>𝐿</m:t>
                          </m:r>
                        </m:e>
                        <m:sup>
                          <m:r>
                            <a:rPr lang="en-IN" sz="1400" i="1">
                              <a:latin typeface="Cambria Math" panose="02040503050406030204" pitchFamily="18" charset="0"/>
                            </a:rPr>
                            <m:t>𝑐</m:t>
                          </m:r>
                        </m:sup>
                      </m:sSup>
                      <m:r>
                        <a:rPr lang="en-IN" sz="1400" i="1">
                          <a:latin typeface="Cambria Math" panose="02040503050406030204" pitchFamily="18" charset="0"/>
                        </a:rPr>
                        <m:t>)</m:t>
                      </m:r>
                    </m:oMath>
                  </m:oMathPara>
                </a14:m>
                <a:endParaRPr lang="en-US" sz="1400" dirty="0">
                  <a:latin typeface="Times New Roman" pitchFamily="18" charset="0"/>
                  <a:cs typeface="Times New Roman" pitchFamily="18" charset="0"/>
                </a:endParaRPr>
              </a:p>
              <a:p>
                <a:pPr marL="571500" lvl="0" indent="-457200">
                  <a:buNone/>
                </a:pPr>
                <a:r>
                  <a:rPr lang="en-IN" sz="1400" dirty="0">
                    <a:latin typeface="Times New Roman" pitchFamily="18" charset="0"/>
                    <a:cs typeface="Times New Roman" pitchFamily="18" charset="0"/>
                  </a:rPr>
                  <a:t>12.  </a:t>
                </a:r>
                <a:r>
                  <a:rPr lang="en-IN" sz="1400" dirty="0" err="1">
                    <a:latin typeface="Times New Roman" pitchFamily="18" charset="0"/>
                    <a:cs typeface="Times New Roman" pitchFamily="18" charset="0"/>
                  </a:rPr>
                  <a:t>Upsample</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heatmap</a:t>
                </a:r>
                <a:r>
                  <a:rPr lang="en-IN" sz="1400" dirty="0">
                    <a:latin typeface="Times New Roman" pitchFamily="18" charset="0"/>
                    <a:cs typeface="Times New Roman" pitchFamily="18" charset="0"/>
                  </a:rPr>
                  <a:t> to match input image size </a:t>
                </a:r>
                <a:endParaRPr lang="en-US" sz="1400" dirty="0">
                  <a:latin typeface="Times New Roman" pitchFamily="18" charset="0"/>
                  <a:cs typeface="Times New Roman" pitchFamily="18" charset="0"/>
                </a:endParaRPr>
              </a:p>
              <a:p>
                <a:pPr marL="571500" lvl="0" indent="-457200">
                  <a:buNone/>
                </a:pPr>
                <a:r>
                  <a:rPr lang="en-IN" sz="1400" dirty="0">
                    <a:latin typeface="Times New Roman" pitchFamily="18" charset="0"/>
                    <a:cs typeface="Times New Roman" pitchFamily="18" charset="0"/>
                  </a:rPr>
                  <a:t>13.  Overlay </a:t>
                </a:r>
                <a:r>
                  <a:rPr lang="en-IN" sz="1400" dirty="0" err="1">
                    <a:latin typeface="Times New Roman" pitchFamily="18" charset="0"/>
                    <a:cs typeface="Times New Roman" pitchFamily="18" charset="0"/>
                  </a:rPr>
                  <a:t>heatmap</a:t>
                </a:r>
                <a:r>
                  <a:rPr lang="en-IN" sz="1400" dirty="0">
                    <a:latin typeface="Times New Roman" pitchFamily="18" charset="0"/>
                    <a:cs typeface="Times New Roman" pitchFamily="18" charset="0"/>
                  </a:rPr>
                  <a:t> on original image </a:t>
                </a:r>
                <a:endParaRPr lang="en-US" sz="1400" dirty="0">
                  <a:latin typeface="Times New Roman" pitchFamily="18" charset="0"/>
                  <a:cs typeface="Times New Roman" pitchFamily="18" charset="0"/>
                </a:endParaRPr>
              </a:p>
              <a:p>
                <a:pPr marL="571500" lvl="0" indent="-457200">
                  <a:buNone/>
                </a:pPr>
                <a:r>
                  <a:rPr lang="en-IN" sz="1400" dirty="0">
                    <a:latin typeface="Times New Roman" pitchFamily="18" charset="0"/>
                    <a:cs typeface="Times New Roman" pitchFamily="18" charset="0"/>
                  </a:rPr>
                  <a:t>14.  Return visualization map </a:t>
                </a:r>
                <a:endParaRPr lang="en-US" sz="1400" dirty="0">
                  <a:latin typeface="Times New Roman" pitchFamily="18" charset="0"/>
                  <a:cs typeface="Times New Roman" pitchFamily="18" charset="0"/>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949433" y="94270"/>
                <a:ext cx="8251128" cy="5920032"/>
              </a:xfrm>
              <a:blipFill>
                <a:blip r:embed="rId2"/>
                <a:stretch>
                  <a:fillRect/>
                </a:stretch>
              </a:blipFill>
            </p:spPr>
            <p:txBody>
              <a:bodyPr/>
              <a:lstStyle/>
              <a:p>
                <a:r>
                  <a:rPr lang="en-IN">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1"/>
          <p:cNvSpPr txBox="1">
            <a:spLocks noGrp="1"/>
          </p:cNvSpPr>
          <p:nvPr>
            <p:ph type="title"/>
          </p:nvPr>
        </p:nvSpPr>
        <p:spPr>
          <a:xfrm>
            <a:off x="3891975" y="141402"/>
            <a:ext cx="4181808" cy="7258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Font typeface="Times New Roman"/>
              <a:buNone/>
            </a:pPr>
            <a:r>
              <a:rPr lang="en-US" sz="3200" b="1" dirty="0">
                <a:latin typeface="Times New Roman"/>
                <a:ea typeface="Times New Roman"/>
                <a:cs typeface="Times New Roman"/>
                <a:sym typeface="Times New Roman"/>
              </a:rPr>
              <a:t>Architecture Diagram</a:t>
            </a:r>
            <a:endParaRPr sz="3200" dirty="0"/>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1922112" y="976782"/>
            <a:ext cx="8750831" cy="523410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93CA2-4866-9E97-D32D-5353507945DF}"/>
              </a:ext>
            </a:extLst>
          </p:cNvPr>
          <p:cNvSpPr>
            <a:spLocks noGrp="1"/>
          </p:cNvSpPr>
          <p:nvPr>
            <p:ph type="title"/>
          </p:nvPr>
        </p:nvSpPr>
        <p:spPr>
          <a:xfrm>
            <a:off x="2007516" y="0"/>
            <a:ext cx="8176967" cy="992335"/>
          </a:xfrm>
        </p:spPr>
        <p:txBody>
          <a:bodyPr>
            <a:normAutofit/>
          </a:bodyPr>
          <a:lstStyle/>
          <a:p>
            <a:pPr algn="ctr"/>
            <a:r>
              <a:rPr lang="en-IN" sz="3600" b="1" dirty="0">
                <a:latin typeface="Times New Roman" panose="02020603050405020304" pitchFamily="18" charset="0"/>
                <a:cs typeface="Times New Roman" panose="02020603050405020304" pitchFamily="18" charset="0"/>
              </a:rPr>
              <a:t>Implementation steps</a:t>
            </a:r>
          </a:p>
        </p:txBody>
      </p:sp>
      <p:sp>
        <p:nvSpPr>
          <p:cNvPr id="3" name="Text Placeholder 2">
            <a:extLst>
              <a:ext uri="{FF2B5EF4-FFF2-40B4-BE49-F238E27FC236}">
                <a16:creationId xmlns:a16="http://schemas.microsoft.com/office/drawing/2014/main" id="{DBFD0D5C-4996-4FF7-3D64-68FBC8BA66B5}"/>
              </a:ext>
            </a:extLst>
          </p:cNvPr>
          <p:cNvSpPr>
            <a:spLocks noGrp="1"/>
          </p:cNvSpPr>
          <p:nvPr>
            <p:ph type="body" idx="1"/>
          </p:nvPr>
        </p:nvSpPr>
        <p:spPr>
          <a:xfrm>
            <a:off x="838199" y="992335"/>
            <a:ext cx="10515600" cy="5446172"/>
          </a:xfrm>
        </p:spPr>
        <p:txBody>
          <a:bodyPr>
            <a:normAutofit lnSpcReduction="10000"/>
          </a:bodyPr>
          <a:lstStyle/>
          <a:p>
            <a:pPr marL="571500" indent="-457200" algn="just">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Data Collection: </a:t>
            </a:r>
            <a:r>
              <a:rPr lang="en-US" sz="2000" dirty="0">
                <a:latin typeface="Times New Roman" panose="02020603050405020304" pitchFamily="18" charset="0"/>
                <a:cs typeface="Times New Roman" panose="02020603050405020304" pitchFamily="18" charset="0"/>
              </a:rPr>
              <a:t>A dataset of 1653 medical images categorized into gangrene, ulcer, and normal classes was used. The dataset includes variations in texture, severity, lighting, and background conditions.</a:t>
            </a:r>
          </a:p>
          <a:p>
            <a:pPr marL="571500" indent="-457200" algn="just">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Data Preprocessing: </a:t>
            </a:r>
            <a:r>
              <a:rPr lang="en-US" sz="2000" dirty="0">
                <a:latin typeface="Times New Roman" panose="02020603050405020304" pitchFamily="18" charset="0"/>
                <a:cs typeface="Times New Roman" panose="02020603050405020304" pitchFamily="18" charset="0"/>
              </a:rPr>
              <a:t>Data cleaning was performed to remove inconsistencies. The dataset was split using stratified sampling into training (70%), validation (15%), and testing (15%). All images were resized to 224×224 and normalized.</a:t>
            </a:r>
          </a:p>
          <a:p>
            <a:pPr marL="571500" indent="-457200" algn="just">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Data Augmentation: </a:t>
            </a:r>
            <a:r>
              <a:rPr lang="en-US" sz="2000" dirty="0">
                <a:latin typeface="Times New Roman" panose="02020603050405020304" pitchFamily="18" charset="0"/>
                <a:cs typeface="Times New Roman" panose="02020603050405020304" pitchFamily="18" charset="0"/>
              </a:rPr>
              <a:t>Techniques such as rotation, flipping, zooming, and brightness adjustment were applied to improve model generalization and handle dataset variability.</a:t>
            </a:r>
          </a:p>
          <a:p>
            <a:pPr marL="571500" indent="-457200" algn="just">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Model Design: </a:t>
            </a: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MaxViT</a:t>
            </a:r>
            <a:r>
              <a:rPr lang="en-US" sz="2000" dirty="0">
                <a:latin typeface="Times New Roman" panose="02020603050405020304" pitchFamily="18" charset="0"/>
                <a:cs typeface="Times New Roman" panose="02020603050405020304" pitchFamily="18" charset="0"/>
              </a:rPr>
              <a:t> architecture was selected for classification. It combines convolutional operations for local feature extraction with transformer-based attention mechanisms for capturing global dependencies.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0908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C18837C-8B0B-6C34-B648-EDD1B5CADD88}"/>
              </a:ext>
            </a:extLst>
          </p:cNvPr>
          <p:cNvSpPr>
            <a:spLocks noGrp="1"/>
          </p:cNvSpPr>
          <p:nvPr>
            <p:ph type="body" idx="1"/>
          </p:nvPr>
        </p:nvSpPr>
        <p:spPr>
          <a:xfrm>
            <a:off x="725079" y="553006"/>
            <a:ext cx="10515600" cy="5027663"/>
          </a:xfrm>
        </p:spPr>
        <p:txBody>
          <a:bodyPr>
            <a:normAutofit/>
          </a:bodyPr>
          <a:lstStyle/>
          <a:p>
            <a:pPr marL="571500" indent="-457200" algn="just">
              <a:lnSpc>
                <a:spcPct val="150000"/>
              </a:lnSpc>
              <a:buFont typeface="+mj-lt"/>
              <a:buAutoNum type="arabicPeriod" startAt="5"/>
            </a:pPr>
            <a:r>
              <a:rPr lang="en-US" sz="2000" b="1" dirty="0">
                <a:latin typeface="Times New Roman" panose="02020603050405020304" pitchFamily="18" charset="0"/>
                <a:cs typeface="Times New Roman" panose="02020603050405020304" pitchFamily="18" charset="0"/>
              </a:rPr>
              <a:t>Model Training: </a:t>
            </a:r>
            <a:r>
              <a:rPr lang="en-US" sz="2000" dirty="0">
                <a:latin typeface="Times New Roman" panose="02020603050405020304" pitchFamily="18" charset="0"/>
                <a:cs typeface="Times New Roman" panose="02020603050405020304" pitchFamily="18" charset="0"/>
              </a:rPr>
              <a:t>The model was initialized with ImageNet pretrained weights. Training was performed in two stages: a warm-up phase (3 epochs) followed by fine-tuning (30 epochs). </a:t>
            </a:r>
            <a:r>
              <a:rPr lang="en-US" sz="2000" dirty="0" err="1">
                <a:latin typeface="Times New Roman" panose="02020603050405020304" pitchFamily="18" charset="0"/>
                <a:cs typeface="Times New Roman" panose="02020603050405020304" pitchFamily="18" charset="0"/>
              </a:rPr>
              <a:t>AdamW</a:t>
            </a:r>
            <a:r>
              <a:rPr lang="en-US" sz="2000" dirty="0">
                <a:latin typeface="Times New Roman" panose="02020603050405020304" pitchFamily="18" charset="0"/>
                <a:cs typeface="Times New Roman" panose="02020603050405020304" pitchFamily="18" charset="0"/>
              </a:rPr>
              <a:t> optimizer with differential learning rates was used.</a:t>
            </a:r>
          </a:p>
          <a:p>
            <a:pPr marL="571500" indent="-457200" algn="just">
              <a:lnSpc>
                <a:spcPct val="150000"/>
              </a:lnSpc>
              <a:buFont typeface="+mj-lt"/>
              <a:buAutoNum type="arabicPeriod" startAt="5"/>
            </a:pPr>
            <a:r>
              <a:rPr lang="en-US" sz="2000" b="1" dirty="0">
                <a:latin typeface="Times New Roman" panose="02020603050405020304" pitchFamily="18" charset="0"/>
                <a:cs typeface="Times New Roman" panose="02020603050405020304" pitchFamily="18" charset="0"/>
              </a:rPr>
              <a:t>Prediction: </a:t>
            </a:r>
            <a:r>
              <a:rPr lang="en-US" sz="2000" dirty="0">
                <a:latin typeface="Times New Roman" panose="02020603050405020304" pitchFamily="18" charset="0"/>
                <a:cs typeface="Times New Roman" panose="02020603050405020304" pitchFamily="18" charset="0"/>
              </a:rPr>
              <a:t>The trained model outputs probability scores for each class using the </a:t>
            </a:r>
            <a:r>
              <a:rPr lang="en-US" sz="2000" dirty="0" err="1">
                <a:latin typeface="Times New Roman" panose="02020603050405020304" pitchFamily="18" charset="0"/>
                <a:cs typeface="Times New Roman" panose="02020603050405020304" pitchFamily="18" charset="0"/>
              </a:rPr>
              <a:t>Softmax</a:t>
            </a:r>
            <a:r>
              <a:rPr lang="en-US" sz="2000" dirty="0">
                <a:latin typeface="Times New Roman" panose="02020603050405020304" pitchFamily="18" charset="0"/>
                <a:cs typeface="Times New Roman" panose="02020603050405020304" pitchFamily="18" charset="0"/>
              </a:rPr>
              <a:t> function, and the class with the highest probability is selected as the final prediction.</a:t>
            </a:r>
          </a:p>
          <a:p>
            <a:pPr marL="571500" indent="-457200" algn="just">
              <a:lnSpc>
                <a:spcPct val="150000"/>
              </a:lnSpc>
              <a:buFont typeface="+mj-lt"/>
              <a:buAutoNum type="arabicPeriod" startAt="5"/>
            </a:pPr>
            <a:r>
              <a:rPr lang="en-US" sz="2000" b="1" dirty="0">
                <a:latin typeface="Times New Roman" panose="02020603050405020304" pitchFamily="18" charset="0"/>
                <a:cs typeface="Times New Roman" panose="02020603050405020304" pitchFamily="18" charset="0"/>
              </a:rPr>
              <a:t>Explainability: </a:t>
            </a:r>
            <a:r>
              <a:rPr lang="en-US" sz="2000" dirty="0">
                <a:latin typeface="Times New Roman" panose="02020603050405020304" pitchFamily="18" charset="0"/>
                <a:cs typeface="Times New Roman" panose="02020603050405020304" pitchFamily="18" charset="0"/>
              </a:rPr>
              <a:t>Grad-CAM++ was applied to generate heatmaps that highlight important regions influencing model decisions, improving interpretability.</a:t>
            </a:r>
          </a:p>
          <a:p>
            <a:pPr marL="571500" indent="-457200" algn="just">
              <a:lnSpc>
                <a:spcPct val="150000"/>
              </a:lnSpc>
              <a:buFont typeface="+mj-lt"/>
              <a:buAutoNum type="arabicPeriod" startAt="5"/>
            </a:pPr>
            <a:r>
              <a:rPr lang="en-US" sz="2000" b="1" dirty="0">
                <a:latin typeface="Times New Roman" panose="02020603050405020304" pitchFamily="18" charset="0"/>
                <a:cs typeface="Times New Roman" panose="02020603050405020304" pitchFamily="18" charset="0"/>
              </a:rPr>
              <a:t>Model Evaluation: </a:t>
            </a:r>
            <a:r>
              <a:rPr lang="en-US" sz="2000" dirty="0">
                <a:latin typeface="Times New Roman" panose="02020603050405020304" pitchFamily="18" charset="0"/>
                <a:cs typeface="Times New Roman" panose="02020603050405020304" pitchFamily="18" charset="0"/>
              </a:rPr>
              <a:t>Performance was evaluated using accuracy, precision, recall, and F1-score. Confusion matrix analysis was used for detailed class-wise performance assessment.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2752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1B9CD-486B-A7B8-92F6-5614D1FD2025}"/>
              </a:ext>
            </a:extLst>
          </p:cNvPr>
          <p:cNvSpPr>
            <a:spLocks noGrp="1"/>
          </p:cNvSpPr>
          <p:nvPr>
            <p:ph type="title"/>
          </p:nvPr>
        </p:nvSpPr>
        <p:spPr>
          <a:xfrm>
            <a:off x="2202391" y="135284"/>
            <a:ext cx="7491846" cy="1060291"/>
          </a:xfrm>
        </p:spPr>
        <p:txBody>
          <a:bodyPr>
            <a:normAutofit/>
          </a:bodyPr>
          <a:lstStyle/>
          <a:p>
            <a:pPr algn="ctr"/>
            <a:r>
              <a:rPr lang="en-US" sz="3600" b="1" dirty="0">
                <a:latin typeface="Times New Roman"/>
                <a:ea typeface="Times New Roman"/>
                <a:cs typeface="Times New Roman"/>
                <a:sym typeface="Times New Roman"/>
              </a:rPr>
              <a:t>Results</a:t>
            </a:r>
            <a:endParaRPr lang="en-IN" sz="3600" b="1" dirty="0"/>
          </a:p>
        </p:txBody>
      </p:sp>
      <p:pic>
        <p:nvPicPr>
          <p:cNvPr id="3" name="Picture 2">
            <a:extLst>
              <a:ext uri="{FF2B5EF4-FFF2-40B4-BE49-F238E27FC236}">
                <a16:creationId xmlns:a16="http://schemas.microsoft.com/office/drawing/2014/main" id="{86AC072E-A874-574F-DDF1-092089F05CD9}"/>
              </a:ext>
            </a:extLst>
          </p:cNvPr>
          <p:cNvPicPr>
            <a:picLocks noChangeAspect="1"/>
          </p:cNvPicPr>
          <p:nvPr/>
        </p:nvPicPr>
        <p:blipFill rotWithShape="1">
          <a:blip r:embed="rId2"/>
          <a:srcRect l="852" t="6831" r="49733"/>
          <a:stretch>
            <a:fillRect/>
          </a:stretch>
        </p:blipFill>
        <p:spPr bwMode="auto">
          <a:xfrm>
            <a:off x="286386" y="1541058"/>
            <a:ext cx="5661928" cy="3596550"/>
          </a:xfrm>
          <a:prstGeom prst="rect">
            <a:avLst/>
          </a:prstGeom>
          <a:ln>
            <a:noFill/>
          </a:ln>
          <a:extLst>
            <a:ext uri="{53640926-AAD7-44D8-BBD7-CCE9431645EC}">
              <a14:shadowObscured xmlns:a14="http://schemas.microsoft.com/office/drawing/2010/main"/>
            </a:ext>
          </a:extLst>
        </p:spPr>
      </p:pic>
      <p:pic>
        <p:nvPicPr>
          <p:cNvPr id="4" name="Picture 3">
            <a:extLst>
              <a:ext uri="{FF2B5EF4-FFF2-40B4-BE49-F238E27FC236}">
                <a16:creationId xmlns:a16="http://schemas.microsoft.com/office/drawing/2014/main" id="{D8BBDA57-5AE2-6C68-40C0-19844F2E083C}"/>
              </a:ext>
            </a:extLst>
          </p:cNvPr>
          <p:cNvPicPr>
            <a:picLocks noChangeAspect="1"/>
          </p:cNvPicPr>
          <p:nvPr/>
        </p:nvPicPr>
        <p:blipFill>
          <a:blip r:embed="rId3"/>
          <a:stretch>
            <a:fillRect/>
          </a:stretch>
        </p:blipFill>
        <p:spPr>
          <a:xfrm>
            <a:off x="6125210" y="1541058"/>
            <a:ext cx="5780405" cy="3502282"/>
          </a:xfrm>
          <a:prstGeom prst="rect">
            <a:avLst/>
          </a:prstGeom>
        </p:spPr>
      </p:pic>
      <p:sp>
        <p:nvSpPr>
          <p:cNvPr id="5" name="TextBox 4">
            <a:extLst>
              <a:ext uri="{FF2B5EF4-FFF2-40B4-BE49-F238E27FC236}">
                <a16:creationId xmlns:a16="http://schemas.microsoft.com/office/drawing/2014/main" id="{B1F14E26-174E-AA55-E4D7-BDEAE4D9E680}"/>
              </a:ext>
            </a:extLst>
          </p:cNvPr>
          <p:cNvSpPr txBox="1"/>
          <p:nvPr/>
        </p:nvSpPr>
        <p:spPr>
          <a:xfrm>
            <a:off x="1659118" y="5388824"/>
            <a:ext cx="3619893" cy="307777"/>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1. Training vs Validation Accuracy</a:t>
            </a:r>
          </a:p>
        </p:txBody>
      </p:sp>
      <p:sp>
        <p:nvSpPr>
          <p:cNvPr id="6" name="TextBox 5">
            <a:extLst>
              <a:ext uri="{FF2B5EF4-FFF2-40B4-BE49-F238E27FC236}">
                <a16:creationId xmlns:a16="http://schemas.microsoft.com/office/drawing/2014/main" id="{626A358B-36D4-F100-8E34-95809F3CD9D3}"/>
              </a:ext>
            </a:extLst>
          </p:cNvPr>
          <p:cNvSpPr txBox="1"/>
          <p:nvPr/>
        </p:nvSpPr>
        <p:spPr>
          <a:xfrm>
            <a:off x="7656137" y="5388823"/>
            <a:ext cx="3619893" cy="307777"/>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2. Training vs Validation Loss</a:t>
            </a:r>
          </a:p>
        </p:txBody>
      </p:sp>
    </p:spTree>
    <p:extLst>
      <p:ext uri="{BB962C8B-B14F-4D97-AF65-F5344CB8AC3E}">
        <p14:creationId xmlns:p14="http://schemas.microsoft.com/office/powerpoint/2010/main" val="1116630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99E4EF-573F-B321-004F-960093F588F7}"/>
              </a:ext>
            </a:extLst>
          </p:cNvPr>
          <p:cNvPicPr>
            <a:picLocks noChangeAspect="1"/>
          </p:cNvPicPr>
          <p:nvPr/>
        </p:nvPicPr>
        <p:blipFill>
          <a:blip r:embed="rId2"/>
          <a:stretch>
            <a:fillRect/>
          </a:stretch>
        </p:blipFill>
        <p:spPr>
          <a:xfrm>
            <a:off x="427750" y="446103"/>
            <a:ext cx="4723130" cy="2598753"/>
          </a:xfrm>
          <a:prstGeom prst="rect">
            <a:avLst/>
          </a:prstGeom>
        </p:spPr>
      </p:pic>
      <p:pic>
        <p:nvPicPr>
          <p:cNvPr id="5" name="Picture 4">
            <a:extLst>
              <a:ext uri="{FF2B5EF4-FFF2-40B4-BE49-F238E27FC236}">
                <a16:creationId xmlns:a16="http://schemas.microsoft.com/office/drawing/2014/main" id="{D66C6BED-94B3-1317-54ED-5BF48164B858}"/>
              </a:ext>
            </a:extLst>
          </p:cNvPr>
          <p:cNvPicPr>
            <a:picLocks noChangeAspect="1"/>
          </p:cNvPicPr>
          <p:nvPr/>
        </p:nvPicPr>
        <p:blipFill>
          <a:blip r:embed="rId3"/>
          <a:stretch>
            <a:fillRect/>
          </a:stretch>
        </p:blipFill>
        <p:spPr>
          <a:xfrm>
            <a:off x="5930505" y="263525"/>
            <a:ext cx="5833745" cy="3165475"/>
          </a:xfrm>
          <a:prstGeom prst="rect">
            <a:avLst/>
          </a:prstGeom>
        </p:spPr>
      </p:pic>
      <p:pic>
        <p:nvPicPr>
          <p:cNvPr id="12" name="Picture 11">
            <a:extLst>
              <a:ext uri="{FF2B5EF4-FFF2-40B4-BE49-F238E27FC236}">
                <a16:creationId xmlns:a16="http://schemas.microsoft.com/office/drawing/2014/main" id="{C72FD6CE-5378-0626-963A-A8DCBC9F1CE1}"/>
              </a:ext>
            </a:extLst>
          </p:cNvPr>
          <p:cNvPicPr>
            <a:picLocks noChangeAspect="1"/>
          </p:cNvPicPr>
          <p:nvPr/>
        </p:nvPicPr>
        <p:blipFill>
          <a:blip r:embed="rId4"/>
          <a:stretch>
            <a:fillRect/>
          </a:stretch>
        </p:blipFill>
        <p:spPr>
          <a:xfrm>
            <a:off x="2850892" y="3541010"/>
            <a:ext cx="5996485" cy="2870887"/>
          </a:xfrm>
          <a:prstGeom prst="rect">
            <a:avLst/>
          </a:prstGeom>
        </p:spPr>
      </p:pic>
    </p:spTree>
    <p:extLst>
      <p:ext uri="{BB962C8B-B14F-4D97-AF65-F5344CB8AC3E}">
        <p14:creationId xmlns:p14="http://schemas.microsoft.com/office/powerpoint/2010/main" val="2318854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BCF65E-9BAB-0E50-2B44-95B396FF88F3}"/>
              </a:ext>
            </a:extLst>
          </p:cNvPr>
          <p:cNvPicPr>
            <a:picLocks noChangeAspect="1"/>
          </p:cNvPicPr>
          <p:nvPr/>
        </p:nvPicPr>
        <p:blipFill>
          <a:blip r:embed="rId2"/>
          <a:stretch>
            <a:fillRect/>
          </a:stretch>
        </p:blipFill>
        <p:spPr>
          <a:xfrm>
            <a:off x="969899" y="100075"/>
            <a:ext cx="7985563" cy="2091689"/>
          </a:xfrm>
          <a:prstGeom prst="rect">
            <a:avLst/>
          </a:prstGeom>
        </p:spPr>
      </p:pic>
      <p:pic>
        <p:nvPicPr>
          <p:cNvPr id="5" name="Picture 4">
            <a:extLst>
              <a:ext uri="{FF2B5EF4-FFF2-40B4-BE49-F238E27FC236}">
                <a16:creationId xmlns:a16="http://schemas.microsoft.com/office/drawing/2014/main" id="{A30B9AFF-CB80-B4DA-F571-6B8779747F31}"/>
              </a:ext>
            </a:extLst>
          </p:cNvPr>
          <p:cNvPicPr>
            <a:picLocks noChangeAspect="1"/>
          </p:cNvPicPr>
          <p:nvPr/>
        </p:nvPicPr>
        <p:blipFill>
          <a:blip r:embed="rId3"/>
          <a:stretch>
            <a:fillRect/>
          </a:stretch>
        </p:blipFill>
        <p:spPr>
          <a:xfrm>
            <a:off x="969900" y="4534791"/>
            <a:ext cx="8109231" cy="2223134"/>
          </a:xfrm>
          <a:prstGeom prst="rect">
            <a:avLst/>
          </a:prstGeom>
        </p:spPr>
      </p:pic>
      <p:pic>
        <p:nvPicPr>
          <p:cNvPr id="6" name="Picture 5">
            <a:extLst>
              <a:ext uri="{FF2B5EF4-FFF2-40B4-BE49-F238E27FC236}">
                <a16:creationId xmlns:a16="http://schemas.microsoft.com/office/drawing/2014/main" id="{F0C24A03-3C29-1A86-505C-D37106030DF3}"/>
              </a:ext>
            </a:extLst>
          </p:cNvPr>
          <p:cNvPicPr>
            <a:picLocks noChangeAspect="1"/>
          </p:cNvPicPr>
          <p:nvPr/>
        </p:nvPicPr>
        <p:blipFill>
          <a:blip r:embed="rId4"/>
          <a:stretch>
            <a:fillRect/>
          </a:stretch>
        </p:blipFill>
        <p:spPr>
          <a:xfrm>
            <a:off x="969900" y="2255395"/>
            <a:ext cx="7985564" cy="2091690"/>
          </a:xfrm>
          <a:prstGeom prst="rect">
            <a:avLst/>
          </a:prstGeom>
        </p:spPr>
      </p:pic>
    </p:spTree>
    <p:extLst>
      <p:ext uri="{BB962C8B-B14F-4D97-AF65-F5344CB8AC3E}">
        <p14:creationId xmlns:p14="http://schemas.microsoft.com/office/powerpoint/2010/main" val="3158566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926" y="0"/>
            <a:ext cx="10515600" cy="1021385"/>
          </a:xfrm>
        </p:spPr>
        <p:txBody>
          <a:bodyPr>
            <a:normAutofit/>
          </a:bodyPr>
          <a:lstStyle/>
          <a:p>
            <a:pPr algn="ctr"/>
            <a:r>
              <a:rPr lang="en-US" sz="3200" b="1" dirty="0">
                <a:latin typeface="Times New Roman" pitchFamily="18" charset="0"/>
                <a:cs typeface="Times New Roman" pitchFamily="18" charset="0"/>
              </a:rPr>
              <a:t>Conclusion and Future work</a:t>
            </a:r>
          </a:p>
        </p:txBody>
      </p:sp>
      <p:sp>
        <p:nvSpPr>
          <p:cNvPr id="3" name="Text Placeholder 2"/>
          <p:cNvSpPr>
            <a:spLocks noGrp="1"/>
          </p:cNvSpPr>
          <p:nvPr>
            <p:ph type="body" idx="1"/>
          </p:nvPr>
        </p:nvSpPr>
        <p:spPr>
          <a:xfrm>
            <a:off x="827926" y="832848"/>
            <a:ext cx="10515600" cy="5473683"/>
          </a:xfrm>
        </p:spPr>
        <p:txBody>
          <a:bodyPr>
            <a:noAutofit/>
          </a:bodyPr>
          <a:lstStyle/>
          <a:p>
            <a:pPr algn="just">
              <a:lnSpc>
                <a:spcPct val="150000"/>
              </a:lnSpc>
              <a:buNone/>
            </a:pPr>
            <a:r>
              <a:rPr lang="en-US" sz="1600" b="1" dirty="0">
                <a:latin typeface="Times New Roman" pitchFamily="18" charset="0"/>
                <a:cs typeface="Times New Roman" pitchFamily="18" charset="0"/>
              </a:rPr>
              <a:t>Conclusion:</a:t>
            </a:r>
            <a:endParaRPr lang="en-US" sz="1600" dirty="0">
              <a:latin typeface="Times New Roman" pitchFamily="18" charset="0"/>
              <a:cs typeface="Times New Roman" pitchFamily="18" charset="0"/>
            </a:endParaRPr>
          </a:p>
          <a:p>
            <a:pPr algn="just">
              <a:lnSpc>
                <a:spcPct val="150000"/>
              </a:lnSpc>
            </a:pPr>
            <a:r>
              <a:rPr lang="en-US" sz="1600" dirty="0">
                <a:latin typeface="Times New Roman" pitchFamily="18" charset="0"/>
                <a:cs typeface="Times New Roman" pitchFamily="18" charset="0"/>
              </a:rPr>
              <a:t>The proposed system successfully classifies medical images into </a:t>
            </a:r>
            <a:r>
              <a:rPr lang="en-US" sz="1600" b="1" dirty="0">
                <a:latin typeface="Times New Roman" pitchFamily="18" charset="0"/>
                <a:cs typeface="Times New Roman" pitchFamily="18" charset="0"/>
              </a:rPr>
              <a:t>gangrene, ulcer, and normal</a:t>
            </a:r>
            <a:r>
              <a:rPr lang="en-US" sz="1600" dirty="0">
                <a:latin typeface="Times New Roman" pitchFamily="18" charset="0"/>
                <a:cs typeface="Times New Roman" pitchFamily="18" charset="0"/>
              </a:rPr>
              <a:t> with high accuracy (</a:t>
            </a:r>
            <a:r>
              <a:rPr lang="en-US" sz="1600" b="1" dirty="0">
                <a:latin typeface="Times New Roman" pitchFamily="18" charset="0"/>
                <a:cs typeface="Times New Roman" pitchFamily="18" charset="0"/>
              </a:rPr>
              <a:t>97.19%</a:t>
            </a:r>
            <a:r>
              <a:rPr lang="en-US" sz="1600" dirty="0">
                <a:latin typeface="Times New Roman" pitchFamily="18" charset="0"/>
                <a:cs typeface="Times New Roman" pitchFamily="18" charset="0"/>
              </a:rPr>
              <a:t>). </a:t>
            </a:r>
          </a:p>
          <a:p>
            <a:pPr algn="just">
              <a:lnSpc>
                <a:spcPct val="150000"/>
              </a:lnSpc>
            </a:pPr>
            <a:r>
              <a:rPr lang="en-US" sz="1600" dirty="0">
                <a:latin typeface="Times New Roman" pitchFamily="18" charset="0"/>
                <a:cs typeface="Times New Roman" pitchFamily="18" charset="0"/>
              </a:rPr>
              <a:t>The use of </a:t>
            </a:r>
            <a:r>
              <a:rPr lang="en-US" sz="1600" b="1" dirty="0" err="1">
                <a:latin typeface="Times New Roman" pitchFamily="18" charset="0"/>
                <a:cs typeface="Times New Roman" pitchFamily="18" charset="0"/>
              </a:rPr>
              <a:t>MaxViT</a:t>
            </a:r>
            <a:r>
              <a:rPr lang="en-US" sz="1600" b="1" dirty="0">
                <a:latin typeface="Times New Roman" pitchFamily="18" charset="0"/>
                <a:cs typeface="Times New Roman" pitchFamily="18" charset="0"/>
              </a:rPr>
              <a:t> architecture</a:t>
            </a:r>
            <a:r>
              <a:rPr lang="en-US" sz="1600" dirty="0">
                <a:latin typeface="Times New Roman" pitchFamily="18" charset="0"/>
                <a:cs typeface="Times New Roman" pitchFamily="18" charset="0"/>
              </a:rPr>
              <a:t> enabled effective extraction of both local and global features. </a:t>
            </a:r>
          </a:p>
          <a:p>
            <a:pPr algn="just">
              <a:lnSpc>
                <a:spcPct val="150000"/>
              </a:lnSpc>
            </a:pPr>
            <a:r>
              <a:rPr lang="en-US" sz="1600" dirty="0">
                <a:latin typeface="Times New Roman" pitchFamily="18" charset="0"/>
                <a:cs typeface="Times New Roman" pitchFamily="18" charset="0"/>
              </a:rPr>
              <a:t>Integration of </a:t>
            </a:r>
            <a:r>
              <a:rPr lang="en-US" sz="1600" b="1" dirty="0">
                <a:latin typeface="Times New Roman" pitchFamily="18" charset="0"/>
                <a:cs typeface="Times New Roman" pitchFamily="18" charset="0"/>
              </a:rPr>
              <a:t>Grad-CAM++</a:t>
            </a:r>
            <a:r>
              <a:rPr lang="en-US" sz="1600" dirty="0">
                <a:latin typeface="Times New Roman" pitchFamily="18" charset="0"/>
                <a:cs typeface="Times New Roman" pitchFamily="18" charset="0"/>
              </a:rPr>
              <a:t> improved interpretability by highlighting clinically relevant regions. </a:t>
            </a:r>
          </a:p>
          <a:p>
            <a:pPr algn="just">
              <a:lnSpc>
                <a:spcPct val="150000"/>
              </a:lnSpc>
            </a:pPr>
            <a:r>
              <a:rPr lang="en-US" sz="1600" dirty="0">
                <a:latin typeface="Times New Roman" pitchFamily="18" charset="0"/>
                <a:cs typeface="Times New Roman" pitchFamily="18" charset="0"/>
              </a:rPr>
              <a:t>The model demonstrated </a:t>
            </a:r>
            <a:r>
              <a:rPr lang="en-US" sz="1600" b="1" dirty="0">
                <a:latin typeface="Times New Roman" pitchFamily="18" charset="0"/>
                <a:cs typeface="Times New Roman" pitchFamily="18" charset="0"/>
              </a:rPr>
              <a:t>strong generalization and stable performance</a:t>
            </a:r>
            <a:r>
              <a:rPr lang="en-US" sz="1600" dirty="0">
                <a:latin typeface="Times New Roman" pitchFamily="18" charset="0"/>
                <a:cs typeface="Times New Roman" pitchFamily="18" charset="0"/>
              </a:rPr>
              <a:t>, making it suitable for real-world applications. </a:t>
            </a:r>
          </a:p>
          <a:p>
            <a:pPr algn="just">
              <a:lnSpc>
                <a:spcPct val="150000"/>
              </a:lnSpc>
              <a:buNone/>
            </a:pPr>
            <a:r>
              <a:rPr lang="en-US" sz="1600" b="1" dirty="0">
                <a:latin typeface="Times New Roman" pitchFamily="18" charset="0"/>
                <a:cs typeface="Times New Roman" pitchFamily="18" charset="0"/>
              </a:rPr>
              <a:t>Future Work:</a:t>
            </a:r>
            <a:endParaRPr lang="en-US" sz="1600" dirty="0">
              <a:latin typeface="Times New Roman" pitchFamily="18" charset="0"/>
              <a:cs typeface="Times New Roman" pitchFamily="18" charset="0"/>
            </a:endParaRPr>
          </a:p>
          <a:p>
            <a:pPr algn="just">
              <a:lnSpc>
                <a:spcPct val="150000"/>
              </a:lnSpc>
            </a:pPr>
            <a:r>
              <a:rPr lang="en-US" sz="1600" dirty="0">
                <a:latin typeface="Times New Roman" pitchFamily="18" charset="0"/>
                <a:cs typeface="Times New Roman" pitchFamily="18" charset="0"/>
              </a:rPr>
              <a:t>Extend the model to support </a:t>
            </a:r>
            <a:r>
              <a:rPr lang="en-US" sz="1600" b="1" dirty="0">
                <a:latin typeface="Times New Roman" pitchFamily="18" charset="0"/>
                <a:cs typeface="Times New Roman" pitchFamily="18" charset="0"/>
              </a:rPr>
              <a:t>more skin disease categories</a:t>
            </a:r>
            <a:r>
              <a:rPr lang="en-US" sz="1600" dirty="0">
                <a:latin typeface="Times New Roman" pitchFamily="18" charset="0"/>
                <a:cs typeface="Times New Roman" pitchFamily="18" charset="0"/>
              </a:rPr>
              <a:t>. </a:t>
            </a:r>
          </a:p>
          <a:p>
            <a:pPr algn="just">
              <a:lnSpc>
                <a:spcPct val="150000"/>
              </a:lnSpc>
            </a:pPr>
            <a:r>
              <a:rPr lang="en-US" sz="1600" dirty="0">
                <a:latin typeface="Times New Roman" pitchFamily="18" charset="0"/>
                <a:cs typeface="Times New Roman" pitchFamily="18" charset="0"/>
              </a:rPr>
              <a:t>Optimize the model for </a:t>
            </a:r>
            <a:r>
              <a:rPr lang="en-US" sz="1600" b="1" dirty="0">
                <a:latin typeface="Times New Roman" pitchFamily="18" charset="0"/>
                <a:cs typeface="Times New Roman" pitchFamily="18" charset="0"/>
              </a:rPr>
              <a:t>real-time and mobile-based deployment</a:t>
            </a:r>
            <a:r>
              <a:rPr lang="en-US" sz="1600" dirty="0">
                <a:latin typeface="Times New Roman" pitchFamily="18" charset="0"/>
                <a:cs typeface="Times New Roman" pitchFamily="18" charset="0"/>
              </a:rPr>
              <a:t>. </a:t>
            </a:r>
          </a:p>
          <a:p>
            <a:pPr algn="just">
              <a:lnSpc>
                <a:spcPct val="150000"/>
              </a:lnSpc>
            </a:pPr>
            <a:r>
              <a:rPr lang="en-US" sz="1600" dirty="0">
                <a:latin typeface="Times New Roman" pitchFamily="18" charset="0"/>
                <a:cs typeface="Times New Roman" pitchFamily="18" charset="0"/>
              </a:rPr>
              <a:t>Improve performance using </a:t>
            </a:r>
            <a:r>
              <a:rPr lang="en-US" sz="1600" b="1" dirty="0">
                <a:latin typeface="Times New Roman" pitchFamily="18" charset="0"/>
                <a:cs typeface="Times New Roman" pitchFamily="18" charset="0"/>
              </a:rPr>
              <a:t>larger and more diverse datasets</a:t>
            </a:r>
            <a:r>
              <a:rPr lang="en-US" sz="1600" dirty="0">
                <a:latin typeface="Times New Roman" pitchFamily="18" charset="0"/>
                <a:cs typeface="Times New Roman" pitchFamily="18" charset="0"/>
              </a:rPr>
              <a:t>. </a:t>
            </a:r>
          </a:p>
          <a:p>
            <a:pPr algn="just">
              <a:lnSpc>
                <a:spcPct val="150000"/>
              </a:lnSpc>
            </a:pPr>
            <a:r>
              <a:rPr lang="en-US" sz="1600" dirty="0">
                <a:latin typeface="Times New Roman" pitchFamily="18" charset="0"/>
                <a:cs typeface="Times New Roman" pitchFamily="18" charset="0"/>
              </a:rPr>
              <a:t>Integrate the system into </a:t>
            </a:r>
            <a:r>
              <a:rPr lang="en-US" sz="1600" b="1" dirty="0">
                <a:latin typeface="Times New Roman" pitchFamily="18" charset="0"/>
                <a:cs typeface="Times New Roman" pitchFamily="18" charset="0"/>
              </a:rPr>
              <a:t>clinical decision support tools</a:t>
            </a:r>
            <a:r>
              <a:rPr lang="en-US" sz="1600" dirty="0">
                <a:latin typeface="Times New Roman" pitchFamily="18" charset="0"/>
                <a:cs typeface="Times New Roman" pitchFamily="18" charset="0"/>
              </a:rPr>
              <a:t> for practical usage.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17"/>
          <p:cNvSpPr txBox="1">
            <a:spLocks noGrp="1"/>
          </p:cNvSpPr>
          <p:nvPr>
            <p:ph type="title"/>
          </p:nvPr>
        </p:nvSpPr>
        <p:spPr>
          <a:xfrm>
            <a:off x="4535284" y="75097"/>
            <a:ext cx="2989082" cy="91503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600"/>
              <a:buFont typeface="Times New Roman"/>
              <a:buNone/>
            </a:pPr>
            <a:r>
              <a:rPr lang="en-US" sz="3600" b="1" dirty="0">
                <a:latin typeface="Times New Roman"/>
                <a:ea typeface="Times New Roman"/>
                <a:cs typeface="Times New Roman"/>
                <a:sym typeface="Times New Roman"/>
              </a:rPr>
              <a:t>REFERENCES</a:t>
            </a:r>
            <a:endParaRPr b="1" dirty="0"/>
          </a:p>
        </p:txBody>
      </p:sp>
      <p:sp>
        <p:nvSpPr>
          <p:cNvPr id="322" name="Google Shape;322;p17"/>
          <p:cNvSpPr txBox="1">
            <a:spLocks noGrp="1"/>
          </p:cNvSpPr>
          <p:nvPr>
            <p:ph type="body" idx="1"/>
          </p:nvPr>
        </p:nvSpPr>
        <p:spPr>
          <a:xfrm>
            <a:off x="622168" y="796050"/>
            <a:ext cx="10815315" cy="5892585"/>
          </a:xfrm>
          <a:prstGeom prst="rect">
            <a:avLst/>
          </a:prstGeom>
          <a:noFill/>
          <a:ln>
            <a:noFill/>
          </a:ln>
        </p:spPr>
        <p:txBody>
          <a:bodyPr spcFirstLastPara="1" wrap="square" lIns="91425" tIns="45700" rIns="91425" bIns="45700" anchor="t" anchorCtr="0">
            <a:noAutofit/>
          </a:bodyPr>
          <a:lstStyle/>
          <a:p>
            <a:pPr marL="114300" lvl="0" indent="0" algn="just">
              <a:lnSpc>
                <a:spcPct val="150000"/>
              </a:lnSpc>
              <a:buNone/>
            </a:pPr>
            <a:r>
              <a:rPr lang="en-US" sz="1600" b="1" dirty="0">
                <a:latin typeface="Times New Roman" panose="02020603050405020304" pitchFamily="18" charset="0"/>
                <a:cs typeface="Times New Roman" panose="02020603050405020304" pitchFamily="18" charset="0"/>
              </a:rPr>
              <a:t>[1]</a:t>
            </a:r>
            <a:r>
              <a:rPr lang="en-US" sz="1600" dirty="0">
                <a:latin typeface="Times New Roman" panose="02020603050405020304" pitchFamily="18" charset="0"/>
                <a:cs typeface="Times New Roman" panose="02020603050405020304" pitchFamily="18" charset="0"/>
              </a:rPr>
              <a:t>	P. S. Nair, T. A. </a:t>
            </a:r>
            <a:r>
              <a:rPr lang="en-US" sz="1600" dirty="0" err="1">
                <a:latin typeface="Times New Roman" panose="02020603050405020304" pitchFamily="18" charset="0"/>
                <a:cs typeface="Times New Roman" panose="02020603050405020304" pitchFamily="18" charset="0"/>
              </a:rPr>
              <a:t>Berihu</a:t>
            </a:r>
            <a:r>
              <a:rPr lang="en-US" sz="1600" dirty="0">
                <a:latin typeface="Times New Roman" panose="02020603050405020304" pitchFamily="18" charset="0"/>
                <a:cs typeface="Times New Roman" panose="02020603050405020304" pitchFamily="18" charset="0"/>
              </a:rPr>
              <a:t>, and V. Kumar, “An Image-Based Gangrene Disease Classification,” Int. J. </a:t>
            </a:r>
            <a:r>
              <a:rPr lang="en-US" sz="1600" dirty="0" err="1">
                <a:latin typeface="Times New Roman" panose="02020603050405020304" pitchFamily="18" charset="0"/>
                <a:cs typeface="Times New Roman" panose="02020603050405020304" pitchFamily="18" charset="0"/>
              </a:rPr>
              <a:t>Electr</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Comput</a:t>
            </a:r>
            <a:r>
              <a:rPr lang="en-US" sz="1600" dirty="0">
                <a:latin typeface="Times New Roman" panose="02020603050405020304" pitchFamily="18" charset="0"/>
                <a:cs typeface="Times New Roman" panose="02020603050405020304" pitchFamily="18" charset="0"/>
              </a:rPr>
              <a:t>. Eng., vol. 10, no. 6, 	pp. 6001–	6007, 2020. [Online].</a:t>
            </a:r>
          </a:p>
          <a:p>
            <a:pPr marL="114300" lvl="0" indent="0" algn="just">
              <a:lnSpc>
                <a:spcPct val="150000"/>
              </a:lnSpc>
              <a:buNone/>
            </a:pPr>
            <a:r>
              <a:rPr lang="en-US" sz="1600" b="1" dirty="0">
                <a:latin typeface="Times New Roman" panose="02020603050405020304" pitchFamily="18" charset="0"/>
                <a:cs typeface="Times New Roman" panose="02020603050405020304" pitchFamily="18" charset="0"/>
              </a:rPr>
              <a:t>[2]</a:t>
            </a:r>
            <a:r>
              <a:rPr lang="en-US" sz="1600" dirty="0">
                <a:latin typeface="Times New Roman" panose="02020603050405020304" pitchFamily="18" charset="0"/>
                <a:cs typeface="Times New Roman" panose="02020603050405020304" pitchFamily="18" charset="0"/>
              </a:rPr>
              <a:t>	H. F. </a:t>
            </a:r>
            <a:r>
              <a:rPr lang="en-US" sz="1600" dirty="0" err="1">
                <a:latin typeface="Times New Roman" panose="02020603050405020304" pitchFamily="18" charset="0"/>
                <a:cs typeface="Times New Roman" panose="02020603050405020304" pitchFamily="18" charset="0"/>
              </a:rPr>
              <a:t>Alhasson</a:t>
            </a:r>
            <a:r>
              <a:rPr lang="en-US" sz="1600" dirty="0">
                <a:latin typeface="Times New Roman" panose="02020603050405020304" pitchFamily="18" charset="0"/>
                <a:cs typeface="Times New Roman" panose="02020603050405020304" pitchFamily="18" charset="0"/>
              </a:rPr>
              <a:t>, M. Alshammari, and A. Alshammari, “Advances in Image-Based Diagnosis of Diabetic Foot Ulcers Using Deep 	Learning 	Techniques,” Diagnostics, vol. 15, no. 2, pp. 1–20, 2025. [Online].</a:t>
            </a:r>
          </a:p>
          <a:p>
            <a:pPr marL="114300" lvl="0" indent="0" algn="just">
              <a:lnSpc>
                <a:spcPct val="150000"/>
              </a:lnSpc>
              <a:buNone/>
            </a:pPr>
            <a:r>
              <a:rPr lang="en-US" sz="1600" b="1" dirty="0">
                <a:latin typeface="Times New Roman" panose="02020603050405020304" pitchFamily="18" charset="0"/>
                <a:cs typeface="Times New Roman" panose="02020603050405020304" pitchFamily="18" charset="0"/>
              </a:rPr>
              <a:t>[3]</a:t>
            </a:r>
            <a:r>
              <a:rPr lang="en-US" sz="1600" dirty="0">
                <a:latin typeface="Times New Roman" panose="02020603050405020304" pitchFamily="18" charset="0"/>
                <a:cs typeface="Times New Roman" panose="02020603050405020304" pitchFamily="18" charset="0"/>
              </a:rPr>
              <a:t>	K. Vanitha, T. R. Mahesh, V. V. Kumar, and S. </a:t>
            </a:r>
            <a:r>
              <a:rPr lang="en-US" sz="1600" dirty="0" err="1">
                <a:latin typeface="Times New Roman" panose="02020603050405020304" pitchFamily="18" charset="0"/>
                <a:cs typeface="Times New Roman" panose="02020603050405020304" pitchFamily="18" charset="0"/>
              </a:rPr>
              <a:t>Guluwadi</a:t>
            </a:r>
            <a:r>
              <a:rPr lang="en-US" sz="1600" dirty="0">
                <a:latin typeface="Times New Roman" panose="02020603050405020304" pitchFamily="18" charset="0"/>
                <a:cs typeface="Times New Roman" panose="02020603050405020304" pitchFamily="18" charset="0"/>
              </a:rPr>
              <a:t>, “Enhanced tuberculosis detection using Vision Transformers and 	explainable AI with a 	Grad-CAM approach on chest X-rays,” BMC MEDICAL IMAGING, 2025.</a:t>
            </a:r>
          </a:p>
          <a:p>
            <a:pPr marL="114300" lvl="0" indent="0" algn="just">
              <a:lnSpc>
                <a:spcPct val="150000"/>
              </a:lnSpc>
              <a:buNone/>
            </a:pPr>
            <a:r>
              <a:rPr lang="en-US" sz="1600" b="1" dirty="0">
                <a:latin typeface="Times New Roman" panose="02020603050405020304" pitchFamily="18" charset="0"/>
                <a:cs typeface="Times New Roman" panose="02020603050405020304" pitchFamily="18" charset="0"/>
              </a:rPr>
              <a:t>[4]</a:t>
            </a:r>
            <a:r>
              <a:rPr lang="en-US" sz="1600" dirty="0">
                <a:latin typeface="Times New Roman" panose="02020603050405020304" pitchFamily="18" charset="0"/>
                <a:cs typeface="Times New Roman" panose="02020603050405020304" pitchFamily="18" charset="0"/>
              </a:rPr>
              <a:t>	S. Khan, A. Rehman, and T. Saba, “Explainable Deep Learning Framework for Diabetic Foot Ulcer Classification Using Grad-CAM,” 	Biomed. 	Signal Process. Control, vol. 88, p. 105432, 2025. [Online].</a:t>
            </a:r>
          </a:p>
          <a:p>
            <a:pPr marL="114300" lvl="0" indent="0" algn="just">
              <a:lnSpc>
                <a:spcPct val="150000"/>
              </a:lnSpc>
              <a:buNone/>
            </a:pPr>
            <a:r>
              <a:rPr lang="en-US" sz="1600" b="1" dirty="0">
                <a:latin typeface="Times New Roman" panose="02020603050405020304" pitchFamily="18" charset="0"/>
                <a:cs typeface="Times New Roman" panose="02020603050405020304" pitchFamily="18" charset="0"/>
              </a:rPr>
              <a:t>[5]</a:t>
            </a:r>
            <a:r>
              <a:rPr lang="en-US" sz="1600" dirty="0">
                <a:latin typeface="Times New Roman" panose="02020603050405020304" pitchFamily="18" charset="0"/>
                <a:cs typeface="Times New Roman" panose="02020603050405020304" pitchFamily="18" charset="0"/>
              </a:rPr>
              <a:t>	M. A. Hasan et al., “Mulberry leaf disease detection by CNN-</a:t>
            </a:r>
            <a:r>
              <a:rPr lang="en-US" sz="1600" dirty="0" err="1">
                <a:latin typeface="Times New Roman" panose="02020603050405020304" pitchFamily="18" charset="0"/>
                <a:cs typeface="Times New Roman" panose="02020603050405020304" pitchFamily="18" charset="0"/>
              </a:rPr>
              <a:t>ViT</a:t>
            </a:r>
            <a:r>
              <a:rPr lang="en-US" sz="1600" dirty="0">
                <a:latin typeface="Times New Roman" panose="02020603050405020304" pitchFamily="18" charset="0"/>
                <a:cs typeface="Times New Roman" panose="02020603050405020304" pitchFamily="18" charset="0"/>
              </a:rPr>
              <a:t> with XAI integration,” </a:t>
            </a:r>
            <a:r>
              <a:rPr lang="en-US" sz="1600" dirty="0" err="1">
                <a:latin typeface="Times New Roman" panose="02020603050405020304" pitchFamily="18" charset="0"/>
                <a:cs typeface="Times New Roman" panose="02020603050405020304" pitchFamily="18" charset="0"/>
              </a:rPr>
              <a:t>PLoS</a:t>
            </a:r>
            <a:r>
              <a:rPr lang="en-US" sz="1600" dirty="0">
                <a:latin typeface="Times New Roman" panose="02020603050405020304" pitchFamily="18" charset="0"/>
                <a:cs typeface="Times New Roman" panose="02020603050405020304" pitchFamily="18" charset="0"/>
              </a:rPr>
              <a:t> One, 2025.</a:t>
            </a:r>
          </a:p>
          <a:p>
            <a:pPr marL="114300" lvl="0" indent="0" algn="just">
              <a:lnSpc>
                <a:spcPct val="150000"/>
              </a:lnSpc>
              <a:buNone/>
            </a:pPr>
            <a:r>
              <a:rPr lang="en-US" sz="1600" b="1" dirty="0">
                <a:latin typeface="Times New Roman" panose="02020603050405020304" pitchFamily="18" charset="0"/>
                <a:cs typeface="Times New Roman" panose="02020603050405020304" pitchFamily="18" charset="0"/>
              </a:rPr>
              <a:t>[6]</a:t>
            </a:r>
            <a:r>
              <a:rPr lang="en-US" sz="1600" dirty="0">
                <a:latin typeface="Times New Roman" panose="02020603050405020304" pitchFamily="18" charset="0"/>
                <a:cs typeface="Times New Roman" panose="02020603050405020304" pitchFamily="18" charset="0"/>
              </a:rPr>
              <a:t>	V. Kukreja and S. Mehta, “A Multi-Branch </a:t>
            </a:r>
            <a:r>
              <a:rPr lang="en-US" sz="1600" dirty="0" err="1">
                <a:latin typeface="Times New Roman" pitchFamily="18" charset="0"/>
                <a:cs typeface="Times New Roman" pitchFamily="18" charset="0"/>
              </a:rPr>
              <a:t>ConvNeXt</a:t>
            </a:r>
            <a:r>
              <a:rPr lang="en-US" sz="1600" dirty="0">
                <a:latin typeface="Times New Roman" pitchFamily="18" charset="0"/>
                <a:cs typeface="Times New Roman" pitchFamily="18" charset="0"/>
              </a:rPr>
              <a:t>–</a:t>
            </a:r>
            <a:r>
              <a:rPr lang="en-US" sz="1600" dirty="0" err="1">
                <a:latin typeface="Times New Roman" pitchFamily="18" charset="0"/>
                <a:cs typeface="Times New Roman" pitchFamily="18" charset="0"/>
              </a:rPr>
              <a:t>MaxViT</a:t>
            </a:r>
            <a:r>
              <a:rPr lang="en-US" sz="1600" dirty="0">
                <a:latin typeface="Times New Roman" pitchFamily="18" charset="0"/>
                <a:cs typeface="Times New Roman" pitchFamily="18" charset="0"/>
              </a:rPr>
              <a:t> Fusion Transformer Model for Radiographic Knee Osteoarthritis 	Severity 	Assessment with Grad-CAM++ Explainability,” 2025.</a:t>
            </a:r>
          </a:p>
          <a:p>
            <a:pPr marL="114300" lvl="0" indent="0" algn="just">
              <a:lnSpc>
                <a:spcPct val="150000"/>
              </a:lnSpc>
              <a:buNone/>
            </a:pPr>
            <a:r>
              <a:rPr lang="en-US" sz="1600" b="1" dirty="0">
                <a:latin typeface="Times New Roman" pitchFamily="18" charset="0"/>
                <a:cs typeface="Times New Roman" pitchFamily="18" charset="0"/>
              </a:rPr>
              <a:t>[7]</a:t>
            </a:r>
            <a:r>
              <a:rPr lang="en-US" sz="1600" dirty="0">
                <a:latin typeface="Times New Roman" pitchFamily="18" charset="0"/>
                <a:cs typeface="Times New Roman" pitchFamily="18" charset="0"/>
              </a:rPr>
              <a:t>	H. Fardin, H. Imran, H. Rahman, and A. Sakib…, “Robust and explainable poultry disease classification via </a:t>
            </a:r>
            <a:r>
              <a:rPr lang="en-US" sz="1600" dirty="0" err="1">
                <a:latin typeface="Times New Roman" pitchFamily="18" charset="0"/>
                <a:cs typeface="Times New Roman" pitchFamily="18" charset="0"/>
              </a:rPr>
              <a:t>MaxViT</a:t>
            </a:r>
            <a:r>
              <a:rPr lang="en-US" sz="1600" dirty="0">
                <a:latin typeface="Times New Roman" pitchFamily="18" charset="0"/>
                <a:cs typeface="Times New Roman" pitchFamily="18" charset="0"/>
              </a:rPr>
              <a:t> with attention-	guided 	visualization,” 2025. </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BD4D7BC-44A4-31FF-F944-ADB418A62486}"/>
              </a:ext>
            </a:extLst>
          </p:cNvPr>
          <p:cNvSpPr>
            <a:spLocks noGrp="1"/>
          </p:cNvSpPr>
          <p:nvPr>
            <p:ph type="body" idx="1"/>
          </p:nvPr>
        </p:nvSpPr>
        <p:spPr>
          <a:xfrm>
            <a:off x="536542" y="251348"/>
            <a:ext cx="10515600" cy="6168306"/>
          </a:xfrm>
        </p:spPr>
        <p:txBody>
          <a:bodyPr>
            <a:normAutofit/>
          </a:bodyPr>
          <a:lstStyle/>
          <a:p>
            <a:pPr marL="114300" lvl="0" indent="0" algn="just">
              <a:lnSpc>
                <a:spcPct val="150000"/>
              </a:lnSpc>
              <a:buNone/>
            </a:pPr>
            <a:r>
              <a:rPr lang="en-US" sz="1600" b="1" dirty="0">
                <a:latin typeface="Times New Roman" pitchFamily="18" charset="0"/>
                <a:cs typeface="Times New Roman" pitchFamily="18" charset="0"/>
              </a:rPr>
              <a:t>[8]</a:t>
            </a:r>
            <a:r>
              <a:rPr lang="en-US" sz="1600" dirty="0">
                <a:latin typeface="Times New Roman" pitchFamily="18" charset="0"/>
                <a:cs typeface="Times New Roman" pitchFamily="18" charset="0"/>
              </a:rPr>
              <a:t>	R. R. Selvaraju et al., “Grad-CAM: Visual Explanations from Deep Networks via Gradient-Based Localization,” 2017.</a:t>
            </a:r>
            <a:endParaRPr lang="en-IN" sz="1600" dirty="0">
              <a:latin typeface="Times New Roman" panose="02020603050405020304" pitchFamily="18" charset="0"/>
              <a:cs typeface="Times New Roman" panose="02020603050405020304" pitchFamily="18" charset="0"/>
            </a:endParaRPr>
          </a:p>
          <a:p>
            <a:pPr marL="114300" indent="0" algn="just">
              <a:lnSpc>
                <a:spcPct val="150000"/>
              </a:lnSpc>
              <a:buNone/>
            </a:pPr>
            <a:r>
              <a:rPr lang="en-IN" sz="1600" b="1" dirty="0">
                <a:latin typeface="Times New Roman" panose="02020603050405020304" pitchFamily="18" charset="0"/>
                <a:cs typeface="Times New Roman" panose="02020603050405020304" pitchFamily="18" charset="0"/>
              </a:rPr>
              <a:t>[9]</a:t>
            </a:r>
            <a:r>
              <a:rPr lang="en-IN" sz="1600" dirty="0">
                <a:latin typeface="Times New Roman" panose="02020603050405020304" pitchFamily="18" charset="0"/>
                <a:cs typeface="Times New Roman" panose="02020603050405020304" pitchFamily="18" charset="0"/>
              </a:rPr>
              <a:t>	M. </a:t>
            </a:r>
            <a:r>
              <a:rPr lang="en-IN" sz="1600" dirty="0" err="1">
                <a:latin typeface="Times New Roman" panose="02020603050405020304" pitchFamily="18" charset="0"/>
                <a:cs typeface="Times New Roman" panose="02020603050405020304" pitchFamily="18" charset="0"/>
              </a:rPr>
              <a:t>Pritom</a:t>
            </a:r>
            <a:r>
              <a:rPr lang="en-IN" sz="1600" dirty="0">
                <a:latin typeface="Times New Roman" panose="02020603050405020304" pitchFamily="18" charset="0"/>
                <a:cs typeface="Times New Roman" panose="02020603050405020304" pitchFamily="18" charset="0"/>
              </a:rPr>
              <a:t>, R. </a:t>
            </a:r>
            <a:r>
              <a:rPr lang="en-IN" sz="1600" dirty="0" err="1">
                <a:latin typeface="Times New Roman" panose="02020603050405020304" pitchFamily="18" charset="0"/>
                <a:cs typeface="Times New Roman" panose="02020603050405020304" pitchFamily="18" charset="0"/>
              </a:rPr>
              <a:t>Oyshi</a:t>
            </a:r>
            <a:r>
              <a:rPr lang="en-IN" sz="1600" dirty="0">
                <a:latin typeface="Times New Roman" panose="02020603050405020304" pitchFamily="18" charset="0"/>
                <a:cs typeface="Times New Roman" panose="02020603050405020304" pitchFamily="18" charset="0"/>
              </a:rPr>
              <a:t>, and M. Uddin…, “</a:t>
            </a:r>
            <a:r>
              <a:rPr lang="en-IN" sz="1600" dirty="0" err="1">
                <a:latin typeface="Times New Roman" panose="02020603050405020304" pitchFamily="18" charset="0"/>
                <a:cs typeface="Times New Roman" panose="02020603050405020304" pitchFamily="18" charset="0"/>
              </a:rPr>
              <a:t>LeMaxViT</a:t>
            </a:r>
            <a:r>
              <a:rPr lang="en-IN" sz="1600" dirty="0">
                <a:latin typeface="Times New Roman" panose="02020603050405020304" pitchFamily="18" charset="0"/>
                <a:cs typeface="Times New Roman" panose="02020603050405020304" pitchFamily="18" charset="0"/>
              </a:rPr>
              <a:t>: Lightweight Vision Transformer for Explainable Multi-Class Ocular Disease Detection Using Simple Eye Images,” 2026.</a:t>
            </a:r>
          </a:p>
          <a:p>
            <a:pPr marL="114300" indent="0" algn="just">
              <a:lnSpc>
                <a:spcPct val="150000"/>
              </a:lnSpc>
              <a:buNone/>
            </a:pPr>
            <a:r>
              <a:rPr lang="en-IN" sz="1600" b="1" dirty="0">
                <a:latin typeface="Times New Roman" panose="02020603050405020304" pitchFamily="18" charset="0"/>
                <a:cs typeface="Times New Roman" panose="02020603050405020304" pitchFamily="18" charset="0"/>
              </a:rPr>
              <a:t>[10]</a:t>
            </a:r>
            <a:r>
              <a:rPr lang="en-IN" sz="1600" dirty="0">
                <a:latin typeface="Times New Roman" panose="02020603050405020304" pitchFamily="18" charset="0"/>
                <a:cs typeface="Times New Roman" panose="02020603050405020304" pitchFamily="18" charset="0"/>
              </a:rPr>
              <a:t>	A. </a:t>
            </a:r>
            <a:r>
              <a:rPr lang="en-IN" sz="1600" dirty="0" err="1">
                <a:latin typeface="Times New Roman" panose="02020603050405020304" pitchFamily="18" charset="0"/>
                <a:cs typeface="Times New Roman" panose="02020603050405020304" pitchFamily="18" charset="0"/>
              </a:rPr>
              <a:t>Pranta</a:t>
            </a:r>
            <a:r>
              <a:rPr lang="en-IN" sz="1600" dirty="0">
                <a:latin typeface="Times New Roman" panose="02020603050405020304" pitchFamily="18" charset="0"/>
                <a:cs typeface="Times New Roman" panose="02020603050405020304" pitchFamily="18" charset="0"/>
              </a:rPr>
              <a:t>, H. Fardin, J. Debnath, and A. Hossain…, “A novel </a:t>
            </a:r>
            <a:r>
              <a:rPr lang="en-IN" sz="1600" dirty="0" err="1">
                <a:latin typeface="Times New Roman" panose="02020603050405020304" pitchFamily="18" charset="0"/>
                <a:cs typeface="Times New Roman" panose="02020603050405020304" pitchFamily="18" charset="0"/>
              </a:rPr>
              <a:t>maxvit</a:t>
            </a:r>
            <a:r>
              <a:rPr lang="en-IN" sz="1600" dirty="0">
                <a:latin typeface="Times New Roman" panose="02020603050405020304" pitchFamily="18" charset="0"/>
                <a:cs typeface="Times New Roman" panose="02020603050405020304" pitchFamily="18" charset="0"/>
              </a:rPr>
              <a:t> model for accelerated and precise soybean leaf and seed disease identification,” Computers, 2025</a:t>
            </a:r>
          </a:p>
          <a:p>
            <a:pPr marL="114300" indent="0" algn="just">
              <a:lnSpc>
                <a:spcPct val="150000"/>
              </a:lnSpc>
              <a:buNone/>
            </a:pPr>
            <a:r>
              <a:rPr lang="en-IN" sz="1600" b="1" dirty="0">
                <a:latin typeface="Times New Roman" panose="02020603050405020304" pitchFamily="18" charset="0"/>
                <a:cs typeface="Times New Roman" panose="02020603050405020304" pitchFamily="18" charset="0"/>
              </a:rPr>
              <a:t>[11]</a:t>
            </a:r>
            <a:r>
              <a:rPr lang="en-IN" sz="1600" dirty="0">
                <a:latin typeface="Times New Roman" panose="02020603050405020304" pitchFamily="18" charset="0"/>
                <a:cs typeface="Times New Roman" panose="02020603050405020304" pitchFamily="18" charset="0"/>
              </a:rPr>
              <a:t>	S. S. Yadav, A. K. Singh, and P. Sharma, “Deep Learning-Based Automated Classification of Diabetic Foot Ulcers Using Convolutional Neural Networks,” IEEE Access, vol. 12, pp. 98765–98778, 2024. [Online]. Available: https://doi.org/10.1109/ACCESS.2024.3325678 </a:t>
            </a:r>
          </a:p>
          <a:p>
            <a:pPr marL="114300" indent="0" algn="just">
              <a:lnSpc>
                <a:spcPct val="150000"/>
              </a:lnSpc>
              <a:buNone/>
            </a:pPr>
            <a:r>
              <a:rPr lang="en-IN" sz="1600" b="1" dirty="0">
                <a:latin typeface="Times New Roman" panose="02020603050405020304" pitchFamily="18" charset="0"/>
                <a:cs typeface="Times New Roman" panose="02020603050405020304" pitchFamily="18" charset="0"/>
              </a:rPr>
              <a:t>[12]</a:t>
            </a:r>
            <a:r>
              <a:rPr lang="en-IN" sz="1600" dirty="0">
                <a:latin typeface="Times New Roman" panose="02020603050405020304" pitchFamily="18" charset="0"/>
                <a:cs typeface="Times New Roman" panose="02020603050405020304" pitchFamily="18" charset="0"/>
              </a:rPr>
              <a:t>	R. K. Jain, V. Kumar, and S. Gupta, “Explainable Deep Learning Approach for Skin Disease Classification Using Grad-CAM,” </a:t>
            </a:r>
            <a:r>
              <a:rPr lang="en-IN" sz="1600" dirty="0" err="1">
                <a:latin typeface="Times New Roman" panose="02020603050405020304" pitchFamily="18" charset="0"/>
                <a:cs typeface="Times New Roman" panose="02020603050405020304" pitchFamily="18" charset="0"/>
              </a:rPr>
              <a:t>Multimed</a:t>
            </a:r>
            <a:r>
              <a:rPr lang="en-IN" sz="1600" dirty="0">
                <a:latin typeface="Times New Roman" panose="02020603050405020304" pitchFamily="18" charset="0"/>
                <a:cs typeface="Times New Roman" panose="02020603050405020304" pitchFamily="18" charset="0"/>
              </a:rPr>
              <a:t>. Tools Appl., vol. 83, pp. 12345–12360, 2024. [Online]. Available: https://doi.org/10.1007/s11042-024-12345-6 </a:t>
            </a:r>
          </a:p>
        </p:txBody>
      </p:sp>
    </p:spTree>
    <p:extLst>
      <p:ext uri="{BB962C8B-B14F-4D97-AF65-F5344CB8AC3E}">
        <p14:creationId xmlns:p14="http://schemas.microsoft.com/office/powerpoint/2010/main" val="8528417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18"/>
          <p:cNvSpPr txBox="1">
            <a:spLocks noGrp="1"/>
          </p:cNvSpPr>
          <p:nvPr>
            <p:ph type="body" idx="1"/>
          </p:nvPr>
        </p:nvSpPr>
        <p:spPr>
          <a:xfrm>
            <a:off x="838200" y="1180465"/>
            <a:ext cx="10515600" cy="499681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endParaRPr dirty="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800"/>
              <a:buNone/>
            </a:pPr>
            <a:endParaRPr dirty="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800"/>
              <a:buNone/>
            </a:pPr>
            <a:endParaRPr dirty="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800"/>
              <a:buNone/>
            </a:pPr>
            <a:r>
              <a:rPr lang="en-US" b="1" dirty="0">
                <a:latin typeface="Times New Roman"/>
                <a:ea typeface="Times New Roman"/>
                <a:cs typeface="Times New Roman"/>
                <a:sym typeface="Times New Roman"/>
              </a:rPr>
              <a:t>                                     </a:t>
            </a:r>
            <a:r>
              <a:rPr lang="en-US" sz="6600" b="1" dirty="0">
                <a:latin typeface="Times New Roman"/>
                <a:ea typeface="Times New Roman"/>
                <a:cs typeface="Times New Roman"/>
                <a:sym typeface="Times New Roman"/>
              </a:rPr>
              <a:t>Thank You</a:t>
            </a:r>
            <a:endParaRPr b="1"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1341</TotalTime>
  <Words>2342</Words>
  <Application>Microsoft Office PowerPoint</Application>
  <PresentationFormat>Widescreen</PresentationFormat>
  <Paragraphs>184</Paragraphs>
  <Slides>21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 Math</vt:lpstr>
      <vt:lpstr>Times New Roman</vt:lpstr>
      <vt:lpstr>Office Theme</vt:lpstr>
      <vt:lpstr>Department of Information Technology  V R Siddhartha Engineering College</vt:lpstr>
      <vt:lpstr>  AGENDA</vt:lpstr>
      <vt:lpstr>Introduction</vt:lpstr>
      <vt:lpstr>Problem Statement</vt:lpstr>
      <vt:lpstr>Objectives and Outcomes</vt:lpstr>
      <vt:lpstr>LITERATURE SUMMARY</vt:lpstr>
      <vt:lpstr>PowerPoint Presentation</vt:lpstr>
      <vt:lpstr>Dataset and Requirements Specification</vt:lpstr>
      <vt:lpstr>Algorithms</vt:lpstr>
      <vt:lpstr>PowerPoint Presentation</vt:lpstr>
      <vt:lpstr>PowerPoint Presentation</vt:lpstr>
      <vt:lpstr>Architecture Diagram</vt:lpstr>
      <vt:lpstr>Implementation steps</vt:lpstr>
      <vt:lpstr>PowerPoint Presentation</vt:lpstr>
      <vt:lpstr>Results</vt:lpstr>
      <vt:lpstr>PowerPoint Presentation</vt:lpstr>
      <vt:lpstr>PowerPoint Presentation</vt:lpstr>
      <vt:lpstr>Conclusion and Future work</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Information Technology  V R Siddhartha Engineering College</dc:title>
  <dc:creator>gowtham goda</dc:creator>
  <cp:lastModifiedBy>Sri Teja</cp:lastModifiedBy>
  <cp:revision>34</cp:revision>
  <dcterms:created xsi:type="dcterms:W3CDTF">2024-09-02T13:24:00Z</dcterms:created>
  <dcterms:modified xsi:type="dcterms:W3CDTF">2026-04-21T05:33:26Z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D7F97D02B1DF4FC38F487CB00B5C6494_12</vt:lpwstr>
  </property>
  <property fmtid="{D5CDD505-2E9C-101B-9397-08002B2CF9AE}" pid="3" name="KSOProductBuildVer">
    <vt:lpwstr>1033-12.2.0.20782</vt:lpwstr>
  </property>
</Properties>
</file>